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ink/ink1.xml" ContentType="application/inkml+xml"/>
  <Override PartName="/ppt/ink/ink2.xml" ContentType="application/inkml+xml"/>
  <Override PartName="/ppt/ink/ink3.xml" ContentType="application/inkml+xml"/>
  <Override PartName="/ppt/ink/ink4.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8" r:id="rId5"/>
    <p:sldId id="260" r:id="rId6"/>
    <p:sldId id="265" r:id="rId7"/>
    <p:sldId id="261" r:id="rId8"/>
    <p:sldId id="262" r:id="rId9"/>
    <p:sldId id="269" r:id="rId10"/>
    <p:sldId id="270" r:id="rId11"/>
    <p:sldId id="266" r:id="rId12"/>
    <p:sldId id="271" r:id="rId13"/>
    <p:sldId id="272" r:id="rId14"/>
    <p:sldId id="273" r:id="rId15"/>
    <p:sldId id="274" r:id="rId16"/>
    <p:sldId id="275" r:id="rId17"/>
    <p:sldId id="276" r:id="rId18"/>
    <p:sldId id="277" r:id="rId19"/>
    <p:sldId id="278" r:id="rId20"/>
    <p:sldId id="263" r:id="rId21"/>
    <p:sldId id="279" r:id="rId22"/>
    <p:sldId id="280" r:id="rId23"/>
    <p:sldId id="281" r:id="rId24"/>
    <p:sldId id="264" r:id="rId25"/>
    <p:sldId id="282" r:id="rId26"/>
    <p:sldId id="284" r:id="rId27"/>
    <p:sldId id="283" r:id="rId28"/>
    <p:sldId id="259" r:id="rId29"/>
  </p:sldIdLst>
  <p:sldSz cx="12192000" cy="6858000"/>
  <p:notesSz cx="6858000" cy="9144000"/>
  <p:embeddedFontLst>
    <p:embeddedFont>
      <p:font typeface="Calibri" panose="020F0502020204030204"/>
      <p:regular r:id="rId33"/>
    </p:embeddedFont>
    <p:embeddedFont>
      <p:font typeface="Libre Baskerville" panose="02000000000000000000"/>
      <p:regular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6" d="100"/>
          <a:sy n="76" d="100"/>
        </p:scale>
        <p:origin x="917"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4" Type="http://schemas.openxmlformats.org/officeDocument/2006/relationships/font" Target="fonts/font2.fntdata"/><Relationship Id="rId33" Type="http://schemas.openxmlformats.org/officeDocument/2006/relationships/font" Target="fonts/font1.fntdata"/><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43:58"/>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735.000 747.000,'0.000'0.000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43:58"/>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461.000 997.000,'0.000'0.000</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43:58"/>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451.000 739.000,'0.000'0.000</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5-10-17T14:43:58"/>
    </inkml:context>
    <inkml:brush xml:id="br0">
      <inkml:brushProperty name="width" value="0.08819" units="cm"/>
      <inkml:brushProperty name="height" value="0.35278" units="cm"/>
      <inkml:brushProperty name="color" value="#ffff00"/>
      <inkml:brushProperty name="tip" value="rectangle"/>
      <inkml:brushProperty name="rasterOp" value="maskPen"/>
      <inkml:brushProperty name="ignorePressure" value="0"/>
    </inkml:brush>
  </inkml:definitions>
  <inkml:trace contextRef="#ctx0" brushRef="#br0">451.000 739.000,'0.000'0.000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panose="020F0502020204030204"/>
              <a:buNone/>
            </a:p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20" name="Google Shape;20;p7"/>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25" name="Google Shape;25;p9"/>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32" name="Google Shape;32;p10"/>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39" name="Google Shape;39;p8"/>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46" name="Google Shape;46;p11"/>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72" name="Google Shape;72;p14"/>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80" name="Google Shape;80;p15"/>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87" name="Google Shape;87;p16"/>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1.xml"/><Relationship Id="rId4" Type="http://schemas.openxmlformats.org/officeDocument/2006/relationships/customXml" Target="../ink/ink2.xml"/><Relationship Id="rId3" Type="http://schemas.openxmlformats.org/officeDocument/2006/relationships/image" Target="../media/image3.png"/><Relationship Id="rId2" Type="http://schemas.openxmlformats.org/officeDocument/2006/relationships/customXml" Target="../ink/ink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6.pn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8.png"/><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0.png"/><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2.png"/><Relationship Id="rId1"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4.png"/><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3.xml"/><Relationship Id="rId5" Type="http://schemas.openxmlformats.org/officeDocument/2006/relationships/customXml" Target="../ink/ink4.xml"/><Relationship Id="rId4" Type="http://schemas.openxmlformats.org/officeDocument/2006/relationships/image" Target="../media/image3.png"/><Relationship Id="rId3" Type="http://schemas.openxmlformats.org/officeDocument/2006/relationships/customXml" Target="../ink/ink3.xml"/><Relationship Id="rId2" Type="http://schemas.openxmlformats.org/officeDocument/2006/relationships/image" Target="../media/image16.png"/><Relationship Id="rId1"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8.png"/><Relationship Id="rId1"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0.png"/><Relationship Id="rId1"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2.png"/><Relationship Id="rId1"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4.png"/><Relationship Id="rId1"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6.png"/><Relationship Id="rId1"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8.png"/><Relationship Id="rId1"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0.png"/><Relationship Id="rId1"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2.png"/><Relationship Id="rId1"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4.png"/><Relationship Id="rId1"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6.png"/><Relationship Id="rId1" Type="http://schemas.openxmlformats.org/officeDocument/2006/relationships/image" Target="../media/image35.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8.png"/><Relationship Id="rId1" Type="http://schemas.openxmlformats.org/officeDocument/2006/relationships/image" Target="../media/image3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1"/>
          <a:srcRect/>
          <a:stretch>
            <a:fillRect/>
          </a:stretch>
        </p:blipFill>
        <p:spPr>
          <a:xfrm>
            <a:off x="0" y="0"/>
            <a:ext cx="12190730" cy="6858000"/>
          </a:xfrm>
          <a:prstGeom prst="rect">
            <a:avLst/>
          </a:prstGeom>
          <a:noFill/>
          <a:ln>
            <a:noFill/>
          </a:ln>
        </p:spPr>
      </p:pic>
      <p:sp>
        <p:nvSpPr>
          <p:cNvPr id="99" name="Google Shape;99;p1"/>
          <p:cNvSpPr txBox="1"/>
          <p:nvPr/>
        </p:nvSpPr>
        <p:spPr>
          <a:xfrm>
            <a:off x="2521912" y="4015408"/>
            <a:ext cx="7148174" cy="954067"/>
          </a:xfrm>
          <a:prstGeom prst="rect">
            <a:avLst/>
          </a:prstGeom>
          <a:noFill/>
          <a:ln>
            <a:noFill/>
          </a:ln>
        </p:spPr>
        <p:txBody>
          <a:bodyPr spcFirstLastPara="1" wrap="square" lIns="91425" tIns="45700" rIns="91425" bIns="45700" anchor="t" anchorCtr="0">
            <a:spAutoFit/>
          </a:bodyPr>
          <a:lstStyle/>
          <a:p>
            <a:pPr algn="ctr">
              <a:buSzPts val="1800"/>
            </a:pPr>
            <a:r>
              <a:rPr lang="en-IN" sz="2800" b="1" dirty="0"/>
              <a:t>Energy Consumption Analysis</a:t>
            </a:r>
            <a:endParaRPr lang="en-IN" sz="2800" b="1" dirty="0"/>
          </a:p>
          <a:p>
            <a:pPr algn="ctr">
              <a:buSzPts val="1800"/>
            </a:pPr>
            <a:endParaRPr sz="28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p:txBody>
      </p:sp>
      <p:sp>
        <p:nvSpPr>
          <p:cNvPr id="4" name="Text Box 3"/>
          <p:cNvSpPr txBox="1"/>
          <p:nvPr/>
        </p:nvSpPr>
        <p:spPr>
          <a:xfrm>
            <a:off x="636270" y="5236210"/>
            <a:ext cx="3374390" cy="398780"/>
          </a:xfrm>
          <a:prstGeom prst="rect">
            <a:avLst/>
          </a:prstGeom>
          <a:noFill/>
        </p:spPr>
        <p:txBody>
          <a:bodyPr wrap="square" rtlCol="0">
            <a:spAutoFit/>
          </a:bodyPr>
          <a:p>
            <a:r>
              <a:rPr lang="en-IN" sz="2000" b="1" dirty="0">
                <a:latin typeface="Times New Roman" panose="02020603050405020304" pitchFamily="18" charset="0"/>
                <a:cs typeface="Times New Roman" panose="02020603050405020304" pitchFamily="18" charset="0"/>
                <a:sym typeface="+mn-ea"/>
              </a:rPr>
              <a:t>P</a:t>
            </a:r>
            <a:r>
              <a:rPr lang="en-IN" sz="2000" b="1" dirty="0">
                <a:effectLst/>
                <a:latin typeface="Times New Roman" panose="02020603050405020304" pitchFamily="18" charset="0"/>
                <a:cs typeface="Times New Roman" panose="02020603050405020304" pitchFamily="18" charset="0"/>
                <a:sym typeface="+mn-ea"/>
              </a:rPr>
              <a:t>resented By:</a:t>
            </a:r>
            <a:endParaRPr lang="en-GB" altLang="en-US" sz="2000"/>
          </a:p>
        </p:txBody>
      </p:sp>
      <p:sp>
        <p:nvSpPr>
          <p:cNvPr id="5" name="Text Box 4"/>
          <p:cNvSpPr txBox="1"/>
          <p:nvPr/>
        </p:nvSpPr>
        <p:spPr>
          <a:xfrm>
            <a:off x="561340" y="5672455"/>
            <a:ext cx="4764405" cy="737235"/>
          </a:xfrm>
          <a:prstGeom prst="rect">
            <a:avLst/>
          </a:prstGeom>
          <a:noFill/>
        </p:spPr>
        <p:txBody>
          <a:bodyPr wrap="square" rtlCol="0">
            <a:spAutoFit/>
          </a:bodyPr>
          <a:p>
            <a:r>
              <a:rPr lang="en-IN" altLang="en-GB" b="1"/>
              <a:t>Golla Sidhartha : </a:t>
            </a:r>
            <a:r>
              <a:rPr lang="en-IN" altLang="en-GB"/>
              <a:t>81010626225</a:t>
            </a:r>
            <a:endParaRPr lang="en-IN" altLang="en-GB" b="1"/>
          </a:p>
          <a:p>
            <a:r>
              <a:rPr lang="en-IN" altLang="en-GB" b="1"/>
              <a:t>Embadi Anji:</a:t>
            </a:r>
            <a:r>
              <a:rPr lang="en-IN" altLang="en-GB"/>
              <a:t>810610626325</a:t>
            </a:r>
            <a:endParaRPr lang="en-IN" altLang="en-GB"/>
          </a:p>
          <a:p>
            <a:r>
              <a:rPr lang="en-IN" altLang="en-GB" b="1"/>
              <a:t>Balla Rudra Ganapthi Raja:</a:t>
            </a:r>
            <a:r>
              <a:rPr lang="en-IN" altLang="en-GB"/>
              <a:t>81010629425</a:t>
            </a:r>
            <a:endParaRPr lang="en-IN" altLang="en-GB"/>
          </a:p>
        </p:txBody>
      </p:sp>
      <mc:AlternateContent xmlns:mc="http://schemas.openxmlformats.org/markup-compatibility/2006" xmlns:p14="http://schemas.microsoft.com/office/powerpoint/2010/main">
        <mc:Choice Requires="p14">
          <p:contentPart r:id="rId2" p14:bwMode="auto">
            <p14:nvContentPartPr>
              <p14:cNvPr id="6" name="Ink 5"/>
              <p14:cNvContentPartPr/>
              <p14:nvPr/>
            </p14:nvContentPartPr>
            <p14:xfrm>
              <a:off x="4667250" y="4743450"/>
              <a:ext cx="360" cy="360"/>
            </p14:xfrm>
          </p:contentPart>
        </mc:Choice>
        <mc:Fallback xmlns="">
          <p:pic>
            <p:nvPicPr>
              <p:cNvPr id="6" name="Ink 5"/>
            </p:nvPicPr>
            <p:blipFill>
              <a:blip r:embed="rId3"/>
            </p:blipFill>
            <p:spPr>
              <a:xfrm>
                <a:off x="4667250" y="4743450"/>
                <a:ext cx="360" cy="36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7" name="Ink 6"/>
              <p14:cNvContentPartPr/>
              <p14:nvPr/>
            </p14:nvContentPartPr>
            <p14:xfrm>
              <a:off x="2927350" y="6330950"/>
              <a:ext cx="360" cy="360"/>
            </p14:xfrm>
          </p:contentPart>
        </mc:Choice>
        <mc:Fallback xmlns="">
          <p:pic>
            <p:nvPicPr>
              <p:cNvPr id="7" name="Ink 6"/>
            </p:nvPicPr>
            <p:blipFill>
              <a:blip r:embed="rId3"/>
            </p:blipFill>
            <p:spPr>
              <a:xfrm>
                <a:off x="2927350" y="6330950"/>
                <a:ext cx="360" cy="360"/>
              </a:xfrm>
              <a:prstGeom prst="rect"/>
            </p:spPr>
          </p:pic>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panose="020F0502020204030204"/>
              <a:buNone/>
            </a:pPr>
            <a:r>
              <a:rPr lang="en-IN" b="1" dirty="0">
                <a:solidFill>
                  <a:srgbClr val="FF0000"/>
                </a:solidFill>
              </a:rPr>
              <a:t>Agenda  </a:t>
            </a:r>
            <a:endParaRPr b="1" dirty="0">
              <a:solidFill>
                <a:srgbClr val="FF0000"/>
              </a:solidFill>
            </a:endParaRPr>
          </a:p>
        </p:txBody>
      </p:sp>
      <p:sp>
        <p:nvSpPr>
          <p:cNvPr id="111" name="Google Shape;111;p4"/>
          <p:cNvSpPr txBox="1">
            <a:spLocks noGrp="1"/>
          </p:cNvSpPr>
          <p:nvPr>
            <p:ph type="body" idx="1"/>
          </p:nvPr>
        </p:nvSpPr>
        <p:spPr>
          <a:xfrm>
            <a:off x="684880" y="1493134"/>
            <a:ext cx="10971208" cy="4777234"/>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Char char="•"/>
            </a:pPr>
            <a:r>
              <a:rPr lang="en-IN" sz="2400" b="1" dirty="0"/>
              <a:t>Objective of the Project</a:t>
            </a:r>
            <a:endParaRPr sz="2400" dirty="0"/>
          </a:p>
          <a:p>
            <a:pPr marL="457200" lvl="0" indent="-431800" algn="l" rtl="0">
              <a:lnSpc>
                <a:spcPct val="90000"/>
              </a:lnSpc>
              <a:spcBef>
                <a:spcPts val="1000"/>
              </a:spcBef>
              <a:spcAft>
                <a:spcPts val="0"/>
              </a:spcAft>
              <a:buSzPts val="2400"/>
              <a:buChar char="•"/>
            </a:pPr>
            <a:r>
              <a:rPr lang="en-IN" sz="2400" b="1" dirty="0"/>
              <a:t>ER Diagram and schema explanation</a:t>
            </a:r>
            <a:endParaRPr sz="2400" dirty="0"/>
          </a:p>
          <a:p>
            <a:pPr marL="457200" lvl="0" indent="-431800" algn="l" rtl="0">
              <a:lnSpc>
                <a:spcPct val="90000"/>
              </a:lnSpc>
              <a:spcBef>
                <a:spcPts val="1000"/>
              </a:spcBef>
              <a:spcAft>
                <a:spcPts val="0"/>
              </a:spcAft>
              <a:buSzPts val="2400"/>
              <a:buChar char="•"/>
            </a:pPr>
            <a:r>
              <a:rPr lang="en-IN" sz="2400" b="1" dirty="0"/>
              <a:t>Key analysis questions (use cases)</a:t>
            </a:r>
            <a:endParaRPr sz="2400" dirty="0"/>
          </a:p>
          <a:p>
            <a:pPr marL="457200" lvl="0" indent="-431800" algn="l" rtl="0">
              <a:lnSpc>
                <a:spcPct val="90000"/>
              </a:lnSpc>
              <a:spcBef>
                <a:spcPts val="1000"/>
              </a:spcBef>
              <a:spcAft>
                <a:spcPts val="0"/>
              </a:spcAft>
              <a:buSzPts val="2400"/>
              <a:buChar char="•"/>
            </a:pPr>
            <a:r>
              <a:rPr lang="en-IN" sz="2400" b="1" dirty="0"/>
              <a:t>SQL query results with screenshots or summaries</a:t>
            </a:r>
            <a:endParaRPr sz="2400" dirty="0"/>
          </a:p>
          <a:p>
            <a:pPr marL="457200" lvl="0" indent="-431800" algn="l" rtl="0">
              <a:lnSpc>
                <a:spcPct val="90000"/>
              </a:lnSpc>
              <a:spcBef>
                <a:spcPts val="1000"/>
              </a:spcBef>
              <a:spcAft>
                <a:spcPts val="0"/>
              </a:spcAft>
              <a:buSzPts val="2400"/>
              <a:buChar char="•"/>
            </a:pPr>
            <a:r>
              <a:rPr lang="en-IN" sz="2400" b="1" dirty="0"/>
              <a:t>Final business insights and recommendations</a:t>
            </a:r>
            <a:endParaRPr sz="2400" dirty="0"/>
          </a:p>
          <a:p>
            <a:pPr marL="457200" lvl="0" indent="-431800" algn="l" rtl="0">
              <a:lnSpc>
                <a:spcPct val="90000"/>
              </a:lnSpc>
              <a:spcBef>
                <a:spcPts val="1000"/>
              </a:spcBef>
              <a:spcAft>
                <a:spcPts val="0"/>
              </a:spcAft>
              <a:buSzPts val="2400"/>
              <a:buChar char="•"/>
            </a:pPr>
            <a:r>
              <a:rPr lang="en-IN" sz="2400" b="1" dirty="0"/>
              <a:t>Conclusion (Key finding overall) </a:t>
            </a:r>
            <a:endParaRPr sz="2400" dirty="0"/>
          </a:p>
          <a:p>
            <a:pPr marL="457200" lvl="0" indent="-431800" algn="l" rtl="0">
              <a:lnSpc>
                <a:spcPct val="90000"/>
              </a:lnSpc>
              <a:spcBef>
                <a:spcPts val="1000"/>
              </a:spcBef>
              <a:spcAft>
                <a:spcPts val="0"/>
              </a:spcAft>
              <a:buSzPts val="2400"/>
              <a:buChar char="•"/>
            </a:pPr>
            <a:r>
              <a:rPr lang="en-IN" sz="2400" b="1" dirty="0"/>
              <a:t>Q&amp;A Slide </a:t>
            </a:r>
            <a:endParaRPr sz="2400" dirty="0"/>
          </a:p>
          <a:p>
            <a:pPr marL="457200" lvl="0" indent="-431800" algn="l" rtl="0">
              <a:lnSpc>
                <a:spcPct val="90000"/>
              </a:lnSpc>
              <a:spcBef>
                <a:spcPts val="1000"/>
              </a:spcBef>
              <a:spcAft>
                <a:spcPts val="0"/>
              </a:spcAft>
              <a:buSzPts val="2400"/>
              <a:buChar char="•"/>
            </a:pPr>
            <a:r>
              <a:rPr lang="en-IN" sz="2400" b="1" dirty="0"/>
              <a:t>Your Experience/Challenges working on SQL – Data Analysis Project.</a:t>
            </a:r>
            <a:endParaRPr sz="2400" dirty="0"/>
          </a:p>
          <a:p>
            <a:pPr marL="0" lvl="0" indent="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16835"/>
            <a:ext cx="10515600" cy="1789043"/>
          </a:xfrm>
        </p:spPr>
        <p:txBody>
          <a:bodyPr>
            <a:normAutofit/>
          </a:bodyPr>
          <a:lstStyle/>
          <a:p>
            <a:r>
              <a:rPr lang="en-IN" sz="3200" b="1" dirty="0">
                <a:solidFill>
                  <a:srgbClr val="FF0000"/>
                </a:solidFill>
              </a:rPr>
              <a:t>Objective</a:t>
            </a:r>
            <a:r>
              <a:rPr lang="en-IN" sz="3600" b="1" dirty="0">
                <a:solidFill>
                  <a:srgbClr val="FF0000"/>
                </a:solidFill>
              </a:rPr>
              <a:t> of the Project</a:t>
            </a:r>
            <a:br>
              <a:rPr lang="en-IN" dirty="0"/>
            </a:br>
            <a:endParaRPr lang="en-IN" dirty="0"/>
          </a:p>
        </p:txBody>
      </p:sp>
      <p:sp>
        <p:nvSpPr>
          <p:cNvPr id="3" name="Text Placeholder 2"/>
          <p:cNvSpPr>
            <a:spLocks noGrp="1"/>
          </p:cNvSpPr>
          <p:nvPr>
            <p:ph type="body" idx="1"/>
          </p:nvPr>
        </p:nvSpPr>
        <p:spPr>
          <a:xfrm>
            <a:off x="728870" y="1590262"/>
            <a:ext cx="10515600" cy="4134678"/>
          </a:xfrm>
        </p:spPr>
        <p:txBody>
          <a:bodyPr/>
          <a:lstStyle/>
          <a:p>
            <a:pPr marL="114300" indent="0">
              <a:buNone/>
            </a:pPr>
            <a:r>
              <a:rPr lang="en-US" dirty="0"/>
              <a:t>The objective of the Energy Consumption Analysis SQL project is to analyze worldwide energy consumption using data from the EIA organization, which tracks metrics such as energy consumption, emissions, production, population, and GDP for various countries. The project aims to derive meaningful insights by understanding correlations between economic power, consumption, and emissions. This comprehensive analysis is performed using structured datasets integrated into a MySQL database, enabling comparative, trend-based, and per capita assessments of global energy dynamics.</a:t>
            </a: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p:cNvPicPr>
            <a:picLocks noGrp="1" noChangeAspect="1"/>
          </p:cNvPicPr>
          <p:nvPr>
            <p:ph type="pic" idx="2"/>
          </p:nvPr>
        </p:nvPicPr>
        <p:blipFill>
          <a:blip r:embed="rId1"/>
          <a:srcRect l="14403" r="14403"/>
          <a:stretch>
            <a:fillRect/>
          </a:stretch>
        </p:blipFill>
        <p:spPr>
          <a:xfrm>
            <a:off x="6619461" y="1260629"/>
            <a:ext cx="5356516" cy="4879437"/>
          </a:xfrm>
        </p:spPr>
      </p:pic>
      <p:sp>
        <p:nvSpPr>
          <p:cNvPr id="4" name="Text Placeholder 3"/>
          <p:cNvSpPr>
            <a:spLocks noGrp="1"/>
          </p:cNvSpPr>
          <p:nvPr>
            <p:ph type="body" idx="1"/>
          </p:nvPr>
        </p:nvSpPr>
        <p:spPr>
          <a:xfrm>
            <a:off x="839787" y="1260629"/>
            <a:ext cx="5472235" cy="5358831"/>
          </a:xfrm>
        </p:spPr>
        <p:txBody>
          <a:bodyPr>
            <a:normAutofit fontScale="92500" lnSpcReduction="10000"/>
          </a:bodyPr>
          <a:lstStyle/>
          <a:p>
            <a:r>
              <a:rPr lang="en-US" b="1" dirty="0"/>
              <a:t>ER Diagram Explanation</a:t>
            </a:r>
            <a:endParaRPr lang="en-US" b="1" dirty="0"/>
          </a:p>
          <a:p>
            <a:r>
              <a:rPr lang="en-US" dirty="0"/>
              <a:t>The ER diagram for the SQL project on energy consumption analysis consists of six interconnected tables: country, emission, population, production, GDP, and </a:t>
            </a:r>
            <a:r>
              <a:rPr lang="en-US" dirty="0" err="1"/>
              <a:t>consum</a:t>
            </a:r>
            <a:r>
              <a:rPr lang="en-US" dirty="0"/>
              <a:t>. The central "country" table is linked to all other tables through the country attribute, enabling relational integrity and structured queries across datasets.</a:t>
            </a:r>
            <a:endParaRPr lang="en-US" dirty="0"/>
          </a:p>
          <a:p>
            <a:r>
              <a:rPr lang="en-IN" b="1" dirty="0"/>
              <a:t>Schema Explanation</a:t>
            </a:r>
            <a:endParaRPr lang="en-IN" b="1" dirty="0"/>
          </a:p>
          <a:p>
            <a:pPr marL="514350" indent="-285750">
              <a:buFont typeface="Arial" panose="020B0604020202020204" pitchFamily="34" charset="0"/>
              <a:buChar char="•"/>
            </a:pPr>
            <a:r>
              <a:rPr lang="en-US" dirty="0"/>
              <a:t>The country table serves as the reference, containing fields for country name and a unique country ID. All other tables connect to this to maintain data consistency.</a:t>
            </a:r>
            <a:endParaRPr lang="en-US" dirty="0"/>
          </a:p>
          <a:p>
            <a:pPr marL="514350" indent="-285750">
              <a:buFont typeface="Arial" panose="020B0604020202020204" pitchFamily="34" charset="0"/>
              <a:buChar char="•"/>
            </a:pPr>
            <a:r>
              <a:rPr lang="en-US" dirty="0"/>
              <a:t>The emission table stores emission details, energy type, year, total emission, and per capita emission values for each country.</a:t>
            </a:r>
            <a:endParaRPr lang="en-US" dirty="0"/>
          </a:p>
          <a:p>
            <a:pPr marL="514350" indent="-285750">
              <a:buFont typeface="Arial" panose="020B0604020202020204" pitchFamily="34" charset="0"/>
              <a:buChar char="•"/>
            </a:pPr>
            <a:r>
              <a:rPr lang="en-US" dirty="0"/>
              <a:t>The population table tracks population values by country and year.</a:t>
            </a:r>
            <a:endParaRPr lang="en-US" dirty="0"/>
          </a:p>
          <a:p>
            <a:pPr marL="514350" indent="-285750">
              <a:buFont typeface="Arial" panose="020B0604020202020204" pitchFamily="34" charset="0"/>
              <a:buChar char="•"/>
            </a:pPr>
            <a:r>
              <a:rPr lang="en-US" dirty="0"/>
              <a:t>The production table contains data on energy production amounts by country, energy type, and year.</a:t>
            </a:r>
            <a:endParaRPr lang="en-US" dirty="0"/>
          </a:p>
          <a:p>
            <a:pPr marL="514350" indent="-285750">
              <a:buFont typeface="Arial" panose="020B0604020202020204" pitchFamily="34" charset="0"/>
              <a:buChar char="•"/>
            </a:pPr>
            <a:r>
              <a:rPr lang="en-US" dirty="0"/>
              <a:t>The </a:t>
            </a:r>
            <a:r>
              <a:rPr lang="en-US" dirty="0" err="1"/>
              <a:t>gdp_dd</a:t>
            </a:r>
            <a:r>
              <a:rPr lang="en-US" dirty="0"/>
              <a:t> table records GDP values by country and year.</a:t>
            </a:r>
            <a:endParaRPr lang="en-US" dirty="0"/>
          </a:p>
          <a:p>
            <a:pPr marL="514350" indent="-285750">
              <a:buFont typeface="Arial" panose="020B0604020202020204" pitchFamily="34" charset="0"/>
              <a:buChar char="•"/>
            </a:pPr>
            <a:r>
              <a:rPr lang="en-US" dirty="0"/>
              <a:t>The </a:t>
            </a:r>
            <a:r>
              <a:rPr lang="en-US" dirty="0" err="1"/>
              <a:t>consum</a:t>
            </a:r>
            <a:r>
              <a:rPr lang="en-US" dirty="0"/>
              <a:t> table keeps track of energy consumption data segmented by country, energy type, and year.</a:t>
            </a:r>
            <a:endParaRPr lang="en-US" dirty="0"/>
          </a:p>
        </p:txBody>
      </p:sp>
      <p:sp>
        <p:nvSpPr>
          <p:cNvPr id="6" name="Title 5"/>
          <p:cNvSpPr>
            <a:spLocks noGrp="1"/>
          </p:cNvSpPr>
          <p:nvPr>
            <p:ph type="title"/>
          </p:nvPr>
        </p:nvSpPr>
        <p:spPr>
          <a:xfrm>
            <a:off x="442221" y="238539"/>
            <a:ext cx="5779673" cy="1212574"/>
          </a:xfrm>
        </p:spPr>
        <p:txBody>
          <a:bodyPr>
            <a:normAutofit fontScale="90000"/>
          </a:bodyPr>
          <a:lstStyle/>
          <a:p>
            <a:r>
              <a:rPr lang="en-IN" b="1" dirty="0">
                <a:solidFill>
                  <a:srgbClr val="FF0000"/>
                </a:solidFill>
              </a:rPr>
              <a:t>ER Diagram and schema explanation</a:t>
            </a:r>
            <a:br>
              <a:rPr lang="en-IN" dirty="0"/>
            </a:b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460500"/>
          </a:xfrm>
        </p:spPr>
        <p:txBody>
          <a:bodyPr>
            <a:normAutofit/>
          </a:bodyPr>
          <a:lstStyle/>
          <a:p>
            <a:r>
              <a:rPr lang="en-IN" sz="3200" b="1" dirty="0">
                <a:solidFill>
                  <a:srgbClr val="FF0000"/>
                </a:solidFill>
              </a:rPr>
              <a:t>Key analysis questions</a:t>
            </a:r>
            <a:endParaRPr lang="en-IN" sz="3200" dirty="0">
              <a:solidFill>
                <a:srgbClr val="FF0000"/>
              </a:solidFill>
            </a:endParaRPr>
          </a:p>
        </p:txBody>
      </p:sp>
      <p:sp>
        <p:nvSpPr>
          <p:cNvPr id="3" name="Text Placeholder 2"/>
          <p:cNvSpPr>
            <a:spLocks noGrp="1"/>
          </p:cNvSpPr>
          <p:nvPr>
            <p:ph type="body" idx="1"/>
          </p:nvPr>
        </p:nvSpPr>
        <p:spPr>
          <a:xfrm>
            <a:off x="838200" y="1669002"/>
            <a:ext cx="10515600" cy="4507961"/>
          </a:xfrm>
        </p:spPr>
        <p:txBody>
          <a:bodyPr>
            <a:normAutofit fontScale="92500"/>
          </a:bodyPr>
          <a:lstStyle/>
          <a:p>
            <a:r>
              <a:rPr lang="en-US" dirty="0"/>
              <a:t>What is the total emission per country for the most recent year available?</a:t>
            </a:r>
            <a:endParaRPr lang="en-US" dirty="0"/>
          </a:p>
          <a:p>
            <a:r>
              <a:rPr lang="en-US" dirty="0"/>
              <a:t>What are the top 5 countries by GDP in the most recent year?</a:t>
            </a:r>
            <a:endParaRPr lang="en-US" dirty="0"/>
          </a:p>
          <a:p>
            <a:r>
              <a:rPr lang="en-US" dirty="0"/>
              <a:t>Which energy types contribute most to emissions across all countries?</a:t>
            </a:r>
            <a:endParaRPr lang="en-US" dirty="0"/>
          </a:p>
          <a:p>
            <a:r>
              <a:rPr lang="en-US" dirty="0"/>
              <a:t>How have global emissions, GDP, and population changed over time?</a:t>
            </a:r>
            <a:endParaRPr lang="en-US" dirty="0"/>
          </a:p>
          <a:p>
            <a:r>
              <a:rPr lang="en-US" dirty="0"/>
              <a:t>What is the emission-to-GDP and energy consumption per capita for each country?</a:t>
            </a:r>
            <a:endParaRPr lang="en-US" dirty="0"/>
          </a:p>
          <a:p>
            <a:r>
              <a:rPr lang="en-US" dirty="0"/>
              <a:t>Which countries have reduced their per capita emissions the most over the last decade?</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rgbClr val="FF0000"/>
                </a:solidFill>
              </a:rPr>
              <a:t>SQL query results with screenshots or summaries</a:t>
            </a:r>
            <a:br>
              <a:rPr lang="en-US" dirty="0"/>
            </a:br>
            <a:endParaRPr lang="en-IN" dirty="0"/>
          </a:p>
        </p:txBody>
      </p:sp>
      <p:sp>
        <p:nvSpPr>
          <p:cNvPr id="3" name="Text Placeholder 2"/>
          <p:cNvSpPr>
            <a:spLocks noGrp="1"/>
          </p:cNvSpPr>
          <p:nvPr>
            <p:ph type="body" idx="1"/>
          </p:nvPr>
        </p:nvSpPr>
        <p:spPr>
          <a:xfrm>
            <a:off x="838200" y="1245996"/>
            <a:ext cx="10515600" cy="4930967"/>
          </a:xfrm>
        </p:spPr>
        <p:txBody>
          <a:bodyPr/>
          <a:lstStyle/>
          <a:p>
            <a:pPr marL="114300" indent="0">
              <a:buNone/>
            </a:pPr>
            <a:r>
              <a:rPr lang="en-IN" dirty="0"/>
              <a:t>1.</a:t>
            </a:r>
            <a:r>
              <a:rPr lang="en-US" dirty="0"/>
              <a:t> What is the total emission per country for the most recent year available?</a:t>
            </a:r>
            <a:endParaRPr lang="en-IN" dirty="0"/>
          </a:p>
        </p:txBody>
      </p:sp>
      <p:pic>
        <p:nvPicPr>
          <p:cNvPr id="5" name="Picture 4"/>
          <p:cNvPicPr>
            <a:picLocks noChangeAspect="1"/>
          </p:cNvPicPr>
          <p:nvPr/>
        </p:nvPicPr>
        <p:blipFill>
          <a:blip r:embed="rId1"/>
          <a:stretch>
            <a:fillRect/>
          </a:stretch>
        </p:blipFill>
        <p:spPr>
          <a:xfrm>
            <a:off x="918587" y="3478194"/>
            <a:ext cx="4848902" cy="1603690"/>
          </a:xfrm>
          <a:prstGeom prst="rect">
            <a:avLst/>
          </a:prstGeom>
        </p:spPr>
      </p:pic>
      <p:sp>
        <p:nvSpPr>
          <p:cNvPr id="6" name="TextBox 5"/>
          <p:cNvSpPr txBox="1"/>
          <p:nvPr/>
        </p:nvSpPr>
        <p:spPr>
          <a:xfrm>
            <a:off x="653143" y="2532185"/>
            <a:ext cx="4963886" cy="461665"/>
          </a:xfrm>
          <a:prstGeom prst="rect">
            <a:avLst/>
          </a:prstGeom>
          <a:noFill/>
        </p:spPr>
        <p:txBody>
          <a:bodyPr wrap="square" rtlCol="0">
            <a:spAutoFit/>
          </a:bodyPr>
          <a:lstStyle/>
          <a:p>
            <a:pPr algn="ctr"/>
            <a:r>
              <a:rPr lang="en-IN" sz="2400" u="sng" dirty="0"/>
              <a:t>QUERY</a:t>
            </a:r>
            <a:endParaRPr lang="en-IN" sz="2400" u="sng" dirty="0"/>
          </a:p>
        </p:txBody>
      </p:sp>
      <p:sp>
        <p:nvSpPr>
          <p:cNvPr id="7" name="TextBox 6"/>
          <p:cNvSpPr txBox="1"/>
          <p:nvPr/>
        </p:nvSpPr>
        <p:spPr>
          <a:xfrm>
            <a:off x="6752491" y="2532184"/>
            <a:ext cx="3758084" cy="461665"/>
          </a:xfrm>
          <a:prstGeom prst="rect">
            <a:avLst/>
          </a:prstGeom>
          <a:noFill/>
        </p:spPr>
        <p:txBody>
          <a:bodyPr wrap="square" rtlCol="0">
            <a:spAutoFit/>
          </a:bodyPr>
          <a:lstStyle/>
          <a:p>
            <a:pPr algn="ctr"/>
            <a:r>
              <a:rPr lang="en-IN" sz="2400" u="sng" dirty="0"/>
              <a:t>OUTPUT</a:t>
            </a:r>
            <a:endParaRPr lang="en-IN" sz="2400" u="sng" dirty="0"/>
          </a:p>
        </p:txBody>
      </p:sp>
      <p:pic>
        <p:nvPicPr>
          <p:cNvPr id="9" name="Picture 8"/>
          <p:cNvPicPr>
            <a:picLocks noChangeAspect="1"/>
          </p:cNvPicPr>
          <p:nvPr/>
        </p:nvPicPr>
        <p:blipFill>
          <a:blip r:embed="rId2"/>
          <a:stretch>
            <a:fillRect/>
          </a:stretch>
        </p:blipFill>
        <p:spPr>
          <a:xfrm>
            <a:off x="6832878" y="3177708"/>
            <a:ext cx="3830419" cy="287695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222515"/>
          </a:xfrm>
        </p:spPr>
        <p:txBody>
          <a:bodyPr>
            <a:normAutofit/>
          </a:bodyPr>
          <a:lstStyle/>
          <a:p>
            <a:r>
              <a:rPr lang="en-US" sz="3600" b="1"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838200" y="1587640"/>
            <a:ext cx="10515600" cy="4589323"/>
          </a:xfrm>
        </p:spPr>
        <p:txBody>
          <a:bodyPr/>
          <a:lstStyle/>
          <a:p>
            <a:pPr marL="114300" indent="0">
              <a:buNone/>
            </a:pPr>
            <a:r>
              <a:rPr lang="en-US" dirty="0"/>
              <a:t>2.What are the top 5 countries by GDP in the most recent year?</a:t>
            </a:r>
            <a:endParaRPr lang="en-IN" dirty="0"/>
          </a:p>
        </p:txBody>
      </p:sp>
      <p:sp>
        <p:nvSpPr>
          <p:cNvPr id="4" name="TextBox 3"/>
          <p:cNvSpPr txBox="1"/>
          <p:nvPr/>
        </p:nvSpPr>
        <p:spPr>
          <a:xfrm>
            <a:off x="657330" y="2810155"/>
            <a:ext cx="4477378" cy="461665"/>
          </a:xfrm>
          <a:prstGeom prst="rect">
            <a:avLst/>
          </a:prstGeom>
          <a:noFill/>
        </p:spPr>
        <p:txBody>
          <a:bodyPr wrap="square" rtlCol="0">
            <a:spAutoFit/>
          </a:bodyPr>
          <a:lstStyle/>
          <a:p>
            <a:pPr algn="ctr"/>
            <a:r>
              <a:rPr lang="en-IN" sz="2400" u="sng" dirty="0"/>
              <a:t>QUERY</a:t>
            </a:r>
            <a:endParaRPr lang="en-IN" sz="2400" u="sng" dirty="0"/>
          </a:p>
        </p:txBody>
      </p:sp>
      <p:sp>
        <p:nvSpPr>
          <p:cNvPr id="5" name="TextBox 4"/>
          <p:cNvSpPr txBox="1"/>
          <p:nvPr/>
        </p:nvSpPr>
        <p:spPr>
          <a:xfrm flipH="1">
            <a:off x="6595579" y="2810155"/>
            <a:ext cx="3603497" cy="461665"/>
          </a:xfrm>
          <a:prstGeom prst="rect">
            <a:avLst/>
          </a:prstGeom>
          <a:noFill/>
        </p:spPr>
        <p:txBody>
          <a:bodyPr wrap="square" rtlCol="0">
            <a:spAutoFit/>
          </a:bodyPr>
          <a:lstStyle/>
          <a:p>
            <a:pPr algn="ctr"/>
            <a:r>
              <a:rPr lang="en-IN" sz="2400" u="sng" dirty="0"/>
              <a:t>OUTPUT</a:t>
            </a:r>
            <a:endParaRPr lang="en-IN" sz="2400" u="sng" dirty="0"/>
          </a:p>
        </p:txBody>
      </p:sp>
      <p:pic>
        <p:nvPicPr>
          <p:cNvPr id="7" name="Picture 6"/>
          <p:cNvPicPr>
            <a:picLocks noChangeAspect="1"/>
          </p:cNvPicPr>
          <p:nvPr/>
        </p:nvPicPr>
        <p:blipFill>
          <a:blip r:embed="rId1"/>
          <a:stretch>
            <a:fillRect/>
          </a:stretch>
        </p:blipFill>
        <p:spPr>
          <a:xfrm>
            <a:off x="1080835" y="3323491"/>
            <a:ext cx="4363059" cy="1946869"/>
          </a:xfrm>
          <a:prstGeom prst="rect">
            <a:avLst/>
          </a:prstGeom>
        </p:spPr>
      </p:pic>
      <p:pic>
        <p:nvPicPr>
          <p:cNvPr id="9" name="Picture 8"/>
          <p:cNvPicPr>
            <a:picLocks noChangeAspect="1"/>
          </p:cNvPicPr>
          <p:nvPr/>
        </p:nvPicPr>
        <p:blipFill>
          <a:blip r:embed="rId2"/>
          <a:stretch>
            <a:fillRect/>
          </a:stretch>
        </p:blipFill>
        <p:spPr>
          <a:xfrm>
            <a:off x="7204668" y="3323491"/>
            <a:ext cx="2672862" cy="249450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52176"/>
          </a:xfrm>
        </p:spPr>
        <p:txBody>
          <a:bodyPr>
            <a:normAutofit/>
          </a:bodyPr>
          <a:lstStyle/>
          <a:p>
            <a:r>
              <a:rPr lang="en-US" sz="3600" b="1"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838200" y="1517302"/>
            <a:ext cx="10515600" cy="897478"/>
          </a:xfrm>
        </p:spPr>
        <p:txBody>
          <a:bodyPr/>
          <a:lstStyle/>
          <a:p>
            <a:pPr marL="114300" indent="0">
              <a:buNone/>
            </a:pPr>
            <a:r>
              <a:rPr lang="en-US" dirty="0"/>
              <a:t>3.Compare energy production and consumption by country and year</a:t>
            </a:r>
            <a:endParaRPr lang="en-IN" dirty="0"/>
          </a:p>
          <a:p>
            <a:endParaRPr lang="en-IN" dirty="0"/>
          </a:p>
        </p:txBody>
      </p:sp>
      <p:sp>
        <p:nvSpPr>
          <p:cNvPr id="4" name="TextBox 3"/>
          <p:cNvSpPr txBox="1"/>
          <p:nvPr/>
        </p:nvSpPr>
        <p:spPr>
          <a:xfrm>
            <a:off x="1577591" y="2579044"/>
            <a:ext cx="2984361" cy="461665"/>
          </a:xfrm>
          <a:prstGeom prst="rect">
            <a:avLst/>
          </a:prstGeom>
          <a:noFill/>
        </p:spPr>
        <p:txBody>
          <a:bodyPr wrap="square" rtlCol="0">
            <a:spAutoFit/>
          </a:bodyPr>
          <a:lstStyle/>
          <a:p>
            <a:pPr algn="ctr"/>
            <a:r>
              <a:rPr lang="en-IN" sz="2400" u="sng" dirty="0"/>
              <a:t>QUERY</a:t>
            </a:r>
            <a:endParaRPr lang="en-IN" sz="2400" u="sng" dirty="0"/>
          </a:p>
        </p:txBody>
      </p:sp>
      <p:sp>
        <p:nvSpPr>
          <p:cNvPr id="6" name="TextBox 5"/>
          <p:cNvSpPr txBox="1"/>
          <p:nvPr/>
        </p:nvSpPr>
        <p:spPr>
          <a:xfrm>
            <a:off x="6491235" y="2579044"/>
            <a:ext cx="3607358" cy="461665"/>
          </a:xfrm>
          <a:prstGeom prst="rect">
            <a:avLst/>
          </a:prstGeom>
          <a:noFill/>
        </p:spPr>
        <p:txBody>
          <a:bodyPr wrap="square" rtlCol="0">
            <a:spAutoFit/>
          </a:bodyPr>
          <a:lstStyle/>
          <a:p>
            <a:pPr algn="ctr"/>
            <a:r>
              <a:rPr lang="en-IN" sz="2400" u="sng" dirty="0"/>
              <a:t>OUTPUT</a:t>
            </a:r>
            <a:endParaRPr lang="en-IN" sz="2400" u="sng" dirty="0"/>
          </a:p>
        </p:txBody>
      </p:sp>
      <p:pic>
        <p:nvPicPr>
          <p:cNvPr id="8" name="Picture 7"/>
          <p:cNvPicPr>
            <a:picLocks noChangeAspect="1"/>
          </p:cNvPicPr>
          <p:nvPr/>
        </p:nvPicPr>
        <p:blipFill>
          <a:blip r:embed="rId1"/>
          <a:stretch>
            <a:fillRect/>
          </a:stretch>
        </p:blipFill>
        <p:spPr>
          <a:xfrm>
            <a:off x="642069" y="3438525"/>
            <a:ext cx="5849166" cy="1819529"/>
          </a:xfrm>
          <a:prstGeom prst="rect">
            <a:avLst/>
          </a:prstGeom>
        </p:spPr>
      </p:pic>
      <p:pic>
        <p:nvPicPr>
          <p:cNvPr id="10" name="Picture 9"/>
          <p:cNvPicPr>
            <a:picLocks noChangeAspect="1"/>
          </p:cNvPicPr>
          <p:nvPr/>
        </p:nvPicPr>
        <p:blipFill>
          <a:blip r:embed="rId2"/>
          <a:stretch>
            <a:fillRect/>
          </a:stretch>
        </p:blipFill>
        <p:spPr>
          <a:xfrm>
            <a:off x="6714478" y="3132839"/>
            <a:ext cx="4639322" cy="294363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81354"/>
          </a:xfrm>
        </p:spPr>
        <p:txBody>
          <a:bodyPr>
            <a:normAutofit/>
          </a:bodyPr>
          <a:lstStyle/>
          <a:p>
            <a:r>
              <a:rPr lang="en-US" sz="3600" b="1"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918587" y="1433739"/>
            <a:ext cx="10515600" cy="1098445"/>
          </a:xfrm>
        </p:spPr>
        <p:txBody>
          <a:bodyPr/>
          <a:lstStyle/>
          <a:p>
            <a:pPr marL="114300" indent="0">
              <a:buNone/>
            </a:pPr>
            <a:r>
              <a:rPr lang="en-IN" dirty="0"/>
              <a:t>4.</a:t>
            </a:r>
            <a:r>
              <a:rPr lang="en-US" dirty="0"/>
              <a:t> Which energy types contribute most to emissions across all countries? </a:t>
            </a:r>
            <a:endParaRPr lang="en-IN" dirty="0"/>
          </a:p>
        </p:txBody>
      </p:sp>
      <p:sp>
        <p:nvSpPr>
          <p:cNvPr id="4" name="TextBox 3"/>
          <p:cNvSpPr txBox="1"/>
          <p:nvPr/>
        </p:nvSpPr>
        <p:spPr>
          <a:xfrm>
            <a:off x="918587" y="2853730"/>
            <a:ext cx="3573026" cy="461665"/>
          </a:xfrm>
          <a:prstGeom prst="rect">
            <a:avLst/>
          </a:prstGeom>
          <a:noFill/>
        </p:spPr>
        <p:txBody>
          <a:bodyPr wrap="square" rtlCol="0">
            <a:spAutoFit/>
          </a:bodyPr>
          <a:lstStyle/>
          <a:p>
            <a:pPr algn="ctr"/>
            <a:r>
              <a:rPr lang="en-IN" sz="2400" u="sng" dirty="0"/>
              <a:t>QUERY</a:t>
            </a:r>
            <a:endParaRPr lang="en-IN" sz="2400" u="sng" dirty="0"/>
          </a:p>
        </p:txBody>
      </p:sp>
      <p:sp>
        <p:nvSpPr>
          <p:cNvPr id="5" name="TextBox 4"/>
          <p:cNvSpPr txBox="1"/>
          <p:nvPr/>
        </p:nvSpPr>
        <p:spPr>
          <a:xfrm>
            <a:off x="6621864" y="2853731"/>
            <a:ext cx="3446585" cy="461665"/>
          </a:xfrm>
          <a:prstGeom prst="rect">
            <a:avLst/>
          </a:prstGeom>
          <a:noFill/>
        </p:spPr>
        <p:txBody>
          <a:bodyPr wrap="square" rtlCol="0">
            <a:spAutoFit/>
          </a:bodyPr>
          <a:lstStyle/>
          <a:p>
            <a:pPr algn="ctr"/>
            <a:r>
              <a:rPr lang="en-IN" sz="2400" u="sng" dirty="0"/>
              <a:t>OUTPUT</a:t>
            </a:r>
            <a:endParaRPr lang="en-IN" sz="2400" u="sng" dirty="0"/>
          </a:p>
        </p:txBody>
      </p:sp>
      <p:pic>
        <p:nvPicPr>
          <p:cNvPr id="7" name="Picture 6"/>
          <p:cNvPicPr>
            <a:picLocks noChangeAspect="1"/>
          </p:cNvPicPr>
          <p:nvPr/>
        </p:nvPicPr>
        <p:blipFill>
          <a:blip r:embed="rId1"/>
          <a:stretch>
            <a:fillRect/>
          </a:stretch>
        </p:blipFill>
        <p:spPr>
          <a:xfrm>
            <a:off x="641254" y="3639453"/>
            <a:ext cx="4639322" cy="1784808"/>
          </a:xfrm>
          <a:prstGeom prst="rect">
            <a:avLst/>
          </a:prstGeom>
        </p:spPr>
      </p:pic>
      <p:pic>
        <p:nvPicPr>
          <p:cNvPr id="9" name="Picture 8"/>
          <p:cNvPicPr>
            <a:picLocks noChangeAspect="1"/>
          </p:cNvPicPr>
          <p:nvPr/>
        </p:nvPicPr>
        <p:blipFill>
          <a:blip r:embed="rId2"/>
          <a:stretch>
            <a:fillRect/>
          </a:stretch>
        </p:blipFill>
        <p:spPr>
          <a:xfrm>
            <a:off x="6392258" y="3636943"/>
            <a:ext cx="3905795" cy="19839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82321"/>
          </a:xfrm>
        </p:spPr>
        <p:txBody>
          <a:bodyPr>
            <a:normAutofit/>
          </a:bodyPr>
          <a:lstStyle/>
          <a:p>
            <a:r>
              <a:rPr lang="en-US" sz="3600" b="1"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978876" y="1547446"/>
            <a:ext cx="10515600" cy="666366"/>
          </a:xfrm>
        </p:spPr>
        <p:txBody>
          <a:bodyPr>
            <a:normAutofit/>
          </a:bodyPr>
          <a:lstStyle/>
          <a:p>
            <a:pPr marL="114300" indent="0">
              <a:buNone/>
            </a:pPr>
            <a:r>
              <a:rPr lang="en-IN" dirty="0"/>
              <a:t>5.</a:t>
            </a:r>
            <a:r>
              <a:rPr lang="en-US" dirty="0"/>
              <a:t> How have global emissions changed year over year?</a:t>
            </a:r>
            <a:endParaRPr lang="en-IN" dirty="0"/>
          </a:p>
        </p:txBody>
      </p:sp>
      <p:sp>
        <p:nvSpPr>
          <p:cNvPr id="4" name="TextBox 3"/>
          <p:cNvSpPr txBox="1"/>
          <p:nvPr/>
        </p:nvSpPr>
        <p:spPr>
          <a:xfrm>
            <a:off x="1340618" y="2739812"/>
            <a:ext cx="3713703" cy="461665"/>
          </a:xfrm>
          <a:prstGeom prst="rect">
            <a:avLst/>
          </a:prstGeom>
          <a:noFill/>
        </p:spPr>
        <p:txBody>
          <a:bodyPr wrap="square" rtlCol="0">
            <a:spAutoFit/>
          </a:bodyPr>
          <a:lstStyle/>
          <a:p>
            <a:pPr algn="ctr"/>
            <a:r>
              <a:rPr lang="en-IN" sz="2400" u="sng" dirty="0"/>
              <a:t>QUERY</a:t>
            </a:r>
            <a:endParaRPr lang="en-IN" sz="2400" u="sng" dirty="0"/>
          </a:p>
        </p:txBody>
      </p:sp>
      <p:sp>
        <p:nvSpPr>
          <p:cNvPr id="5" name="TextBox 4"/>
          <p:cNvSpPr txBox="1"/>
          <p:nvPr/>
        </p:nvSpPr>
        <p:spPr>
          <a:xfrm>
            <a:off x="6455230" y="2739812"/>
            <a:ext cx="3882014" cy="461665"/>
          </a:xfrm>
          <a:prstGeom prst="rect">
            <a:avLst/>
          </a:prstGeom>
          <a:noFill/>
        </p:spPr>
        <p:txBody>
          <a:bodyPr wrap="square" rtlCol="0">
            <a:spAutoFit/>
          </a:bodyPr>
          <a:lstStyle/>
          <a:p>
            <a:pPr algn="ctr"/>
            <a:r>
              <a:rPr lang="en-IN" sz="2400" u="sng" dirty="0"/>
              <a:t>OUTPUT</a:t>
            </a:r>
            <a:endParaRPr lang="en-IN" sz="2400" u="sng" dirty="0"/>
          </a:p>
        </p:txBody>
      </p:sp>
      <p:pic>
        <p:nvPicPr>
          <p:cNvPr id="7" name="Picture 6"/>
          <p:cNvPicPr>
            <a:picLocks noChangeAspect="1"/>
          </p:cNvPicPr>
          <p:nvPr/>
        </p:nvPicPr>
        <p:blipFill>
          <a:blip r:embed="rId1"/>
          <a:stretch>
            <a:fillRect/>
          </a:stretch>
        </p:blipFill>
        <p:spPr>
          <a:xfrm>
            <a:off x="1244570" y="3500300"/>
            <a:ext cx="4020765" cy="1810254"/>
          </a:xfrm>
          <a:prstGeom prst="rect">
            <a:avLst/>
          </a:prstGeom>
        </p:spPr>
      </p:pic>
      <p:pic>
        <p:nvPicPr>
          <p:cNvPr id="9" name="Picture 8"/>
          <p:cNvPicPr>
            <a:picLocks noChangeAspect="1"/>
          </p:cNvPicPr>
          <p:nvPr/>
        </p:nvPicPr>
        <p:blipFill>
          <a:blip r:embed="rId2"/>
          <a:stretch>
            <a:fillRect/>
          </a:stretch>
        </p:blipFill>
        <p:spPr>
          <a:xfrm>
            <a:off x="7565477" y="3582207"/>
            <a:ext cx="2422585" cy="197453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24933"/>
            <a:ext cx="10515600" cy="1091886"/>
          </a:xfrm>
        </p:spPr>
        <p:txBody>
          <a:bodyPr>
            <a:normAutofit/>
          </a:bodyPr>
          <a:lstStyle/>
          <a:p>
            <a:r>
              <a:rPr lang="en-US" sz="3600" b="1"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988925" y="1333255"/>
            <a:ext cx="10515600" cy="977865"/>
          </a:xfrm>
        </p:spPr>
        <p:txBody>
          <a:bodyPr/>
          <a:lstStyle/>
          <a:p>
            <a:pPr marL="114300" indent="0">
              <a:buNone/>
            </a:pPr>
            <a:r>
              <a:rPr lang="en-IN" dirty="0"/>
              <a:t>6.</a:t>
            </a:r>
            <a:r>
              <a:rPr lang="en-US" dirty="0"/>
              <a:t> What is the trend in GDP for each country over the given years?</a:t>
            </a:r>
            <a:endParaRPr lang="en-IN" dirty="0"/>
          </a:p>
        </p:txBody>
      </p:sp>
      <p:sp>
        <p:nvSpPr>
          <p:cNvPr id="4" name="TextBox 3"/>
          <p:cNvSpPr txBox="1"/>
          <p:nvPr/>
        </p:nvSpPr>
        <p:spPr>
          <a:xfrm>
            <a:off x="902013" y="2425141"/>
            <a:ext cx="3422301" cy="461665"/>
          </a:xfrm>
          <a:prstGeom prst="rect">
            <a:avLst/>
          </a:prstGeom>
          <a:noFill/>
        </p:spPr>
        <p:txBody>
          <a:bodyPr wrap="square" rtlCol="0">
            <a:spAutoFit/>
          </a:bodyPr>
          <a:lstStyle/>
          <a:p>
            <a:pPr algn="ctr"/>
            <a:r>
              <a:rPr lang="en-IN" sz="2400" u="sng" dirty="0"/>
              <a:t>QUERY</a:t>
            </a:r>
            <a:endParaRPr lang="en-IN" sz="2400" u="sng" dirty="0"/>
          </a:p>
        </p:txBody>
      </p:sp>
      <p:sp>
        <p:nvSpPr>
          <p:cNvPr id="5" name="TextBox 4"/>
          <p:cNvSpPr txBox="1"/>
          <p:nvPr/>
        </p:nvSpPr>
        <p:spPr>
          <a:xfrm>
            <a:off x="6511332" y="2425140"/>
            <a:ext cx="3647552" cy="461665"/>
          </a:xfrm>
          <a:prstGeom prst="rect">
            <a:avLst/>
          </a:prstGeom>
          <a:noFill/>
        </p:spPr>
        <p:txBody>
          <a:bodyPr wrap="square" rtlCol="0">
            <a:spAutoFit/>
          </a:bodyPr>
          <a:lstStyle/>
          <a:p>
            <a:pPr algn="ctr"/>
            <a:r>
              <a:rPr lang="en-IN" sz="2400" u="sng" dirty="0"/>
              <a:t>OUTPUT</a:t>
            </a:r>
            <a:endParaRPr lang="en-IN" sz="2400" u="sng" dirty="0"/>
          </a:p>
        </p:txBody>
      </p:sp>
      <p:pic>
        <p:nvPicPr>
          <p:cNvPr id="7" name="Picture 6"/>
          <p:cNvPicPr>
            <a:picLocks noChangeAspect="1"/>
          </p:cNvPicPr>
          <p:nvPr/>
        </p:nvPicPr>
        <p:blipFill>
          <a:blip r:embed="rId1"/>
          <a:stretch>
            <a:fillRect/>
          </a:stretch>
        </p:blipFill>
        <p:spPr>
          <a:xfrm>
            <a:off x="1316996" y="3124477"/>
            <a:ext cx="3248478" cy="1414866"/>
          </a:xfrm>
          <a:prstGeom prst="rect">
            <a:avLst/>
          </a:prstGeom>
        </p:spPr>
      </p:pic>
      <p:pic>
        <p:nvPicPr>
          <p:cNvPr id="9" name="Picture 8"/>
          <p:cNvPicPr>
            <a:picLocks noChangeAspect="1"/>
          </p:cNvPicPr>
          <p:nvPr/>
        </p:nvPicPr>
        <p:blipFill>
          <a:blip r:embed="rId2"/>
          <a:stretch>
            <a:fillRect/>
          </a:stretch>
        </p:blipFill>
        <p:spPr>
          <a:xfrm>
            <a:off x="7024722" y="3124477"/>
            <a:ext cx="3134162" cy="3048425"/>
          </a:xfrm>
          <a:prstGeom prst="rect">
            <a:avLst/>
          </a:prstGeom>
        </p:spPr>
      </p:pic>
      <mc:AlternateContent xmlns:mc="http://schemas.openxmlformats.org/markup-compatibility/2006" xmlns:p14="http://schemas.microsoft.com/office/powerpoint/2010/main">
        <mc:Choice Requires="p14">
          <p:contentPart r:id="rId3" p14:bwMode="auto">
            <p14:nvContentPartPr>
              <p14:cNvPr id="6" name="Ink 5"/>
              <p14:cNvContentPartPr/>
              <p14:nvPr/>
            </p14:nvContentPartPr>
            <p14:xfrm>
              <a:off x="2863850" y="4692650"/>
              <a:ext cx="360" cy="360"/>
            </p14:xfrm>
          </p:contentPart>
        </mc:Choice>
        <mc:Fallback xmlns="">
          <p:pic>
            <p:nvPicPr>
              <p:cNvPr id="6" name="Ink 5"/>
            </p:nvPicPr>
            <p:blipFill>
              <a:blip r:embed="rId4"/>
            </p:blipFill>
            <p:spPr>
              <a:xfrm>
                <a:off x="2863850" y="4692650"/>
                <a:ext cx="360" cy="36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8" name="Ink 7"/>
              <p14:cNvContentPartPr/>
              <p14:nvPr/>
            </p14:nvContentPartPr>
            <p14:xfrm>
              <a:off x="2863850" y="4692650"/>
              <a:ext cx="360" cy="360"/>
            </p14:xfrm>
          </p:contentPart>
        </mc:Choice>
        <mc:Fallback xmlns="">
          <p:pic>
            <p:nvPicPr>
              <p:cNvPr id="8" name="Ink 7"/>
            </p:nvPicPr>
            <p:blipFill>
              <a:blip r:embed="rId4"/>
            </p:blipFill>
            <p:spPr>
              <a:xfrm>
                <a:off x="2863850" y="4692650"/>
                <a:ext cx="360" cy="360"/>
              </a:xfrm>
              <a:prstGeom prst="rect"/>
            </p:spPr>
          </p:pic>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11983"/>
          </a:xfrm>
        </p:spPr>
        <p:txBody>
          <a:bodyPr>
            <a:normAutofit/>
          </a:bodyPr>
          <a:lstStyle/>
          <a:p>
            <a:r>
              <a:rPr lang="en-US" sz="3600" b="1"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1039167" y="1457012"/>
            <a:ext cx="10515600" cy="1111984"/>
          </a:xfrm>
        </p:spPr>
        <p:txBody>
          <a:bodyPr/>
          <a:lstStyle/>
          <a:p>
            <a:pPr marL="114300" indent="0">
              <a:buNone/>
            </a:pPr>
            <a:r>
              <a:rPr lang="en-IN" dirty="0"/>
              <a:t>7.</a:t>
            </a:r>
            <a:r>
              <a:rPr lang="en-US" dirty="0"/>
              <a:t> How has population growth affected total emissions in each country?</a:t>
            </a:r>
            <a:endParaRPr lang="en-IN" dirty="0"/>
          </a:p>
        </p:txBody>
      </p:sp>
      <p:sp>
        <p:nvSpPr>
          <p:cNvPr id="4" name="TextBox 3"/>
          <p:cNvSpPr txBox="1"/>
          <p:nvPr/>
        </p:nvSpPr>
        <p:spPr>
          <a:xfrm>
            <a:off x="1039167" y="2822816"/>
            <a:ext cx="3979148" cy="461665"/>
          </a:xfrm>
          <a:prstGeom prst="rect">
            <a:avLst/>
          </a:prstGeom>
          <a:noFill/>
        </p:spPr>
        <p:txBody>
          <a:bodyPr wrap="square" rtlCol="0">
            <a:spAutoFit/>
          </a:bodyPr>
          <a:lstStyle/>
          <a:p>
            <a:pPr algn="ctr"/>
            <a:r>
              <a:rPr lang="en-IN" sz="2400" dirty="0"/>
              <a:t>QUERY</a:t>
            </a:r>
            <a:endParaRPr lang="en-IN" sz="2400" dirty="0"/>
          </a:p>
        </p:txBody>
      </p:sp>
      <p:sp>
        <p:nvSpPr>
          <p:cNvPr id="5" name="TextBox 4"/>
          <p:cNvSpPr txBox="1"/>
          <p:nvPr/>
        </p:nvSpPr>
        <p:spPr>
          <a:xfrm>
            <a:off x="6531429" y="2823587"/>
            <a:ext cx="3828422" cy="461665"/>
          </a:xfrm>
          <a:prstGeom prst="rect">
            <a:avLst/>
          </a:prstGeom>
          <a:noFill/>
        </p:spPr>
        <p:txBody>
          <a:bodyPr wrap="square" rtlCol="0">
            <a:spAutoFit/>
          </a:bodyPr>
          <a:lstStyle/>
          <a:p>
            <a:pPr algn="ctr"/>
            <a:r>
              <a:rPr lang="en-IN" sz="2400" u="sng" dirty="0"/>
              <a:t>OUTPUT</a:t>
            </a:r>
            <a:endParaRPr lang="en-IN" sz="2400" u="sng" dirty="0"/>
          </a:p>
        </p:txBody>
      </p:sp>
      <p:pic>
        <p:nvPicPr>
          <p:cNvPr id="7" name="Picture 6"/>
          <p:cNvPicPr>
            <a:picLocks noChangeAspect="1"/>
          </p:cNvPicPr>
          <p:nvPr/>
        </p:nvPicPr>
        <p:blipFill>
          <a:blip r:embed="rId1"/>
          <a:stretch>
            <a:fillRect/>
          </a:stretch>
        </p:blipFill>
        <p:spPr>
          <a:xfrm>
            <a:off x="717620" y="3538301"/>
            <a:ext cx="4953691" cy="2457793"/>
          </a:xfrm>
          <a:prstGeom prst="rect">
            <a:avLst/>
          </a:prstGeom>
        </p:spPr>
      </p:pic>
      <p:pic>
        <p:nvPicPr>
          <p:cNvPr id="9" name="Picture 8"/>
          <p:cNvPicPr>
            <a:picLocks noChangeAspect="1"/>
          </p:cNvPicPr>
          <p:nvPr/>
        </p:nvPicPr>
        <p:blipFill>
          <a:blip r:embed="rId2"/>
          <a:stretch>
            <a:fillRect/>
          </a:stretch>
        </p:blipFill>
        <p:spPr>
          <a:xfrm>
            <a:off x="6132457" y="3284481"/>
            <a:ext cx="5020376" cy="281979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52176"/>
          </a:xfrm>
        </p:spPr>
        <p:txBody>
          <a:bodyPr>
            <a:normAutofit/>
          </a:bodyPr>
          <a:lstStyle/>
          <a:p>
            <a:r>
              <a:rPr lang="en-US" sz="3600" b="1"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978877" y="1517302"/>
            <a:ext cx="10515600" cy="937672"/>
          </a:xfrm>
        </p:spPr>
        <p:txBody>
          <a:bodyPr>
            <a:normAutofit lnSpcReduction="10000"/>
          </a:bodyPr>
          <a:lstStyle/>
          <a:p>
            <a:pPr marL="114300" indent="0">
              <a:buNone/>
            </a:pPr>
            <a:r>
              <a:rPr lang="en-IN" dirty="0"/>
              <a:t>8.</a:t>
            </a:r>
            <a:r>
              <a:rPr lang="en-US" dirty="0"/>
              <a:t> Has energy consumption increased or decreased over the years for major economies?</a:t>
            </a:r>
            <a:endParaRPr lang="en-IN" dirty="0"/>
          </a:p>
        </p:txBody>
      </p:sp>
      <p:sp>
        <p:nvSpPr>
          <p:cNvPr id="4" name="TextBox 3"/>
          <p:cNvSpPr txBox="1"/>
          <p:nvPr/>
        </p:nvSpPr>
        <p:spPr>
          <a:xfrm>
            <a:off x="978877" y="2967335"/>
            <a:ext cx="3542881" cy="461665"/>
          </a:xfrm>
          <a:prstGeom prst="rect">
            <a:avLst/>
          </a:prstGeom>
          <a:noFill/>
        </p:spPr>
        <p:txBody>
          <a:bodyPr wrap="square" rtlCol="0">
            <a:spAutoFit/>
          </a:bodyPr>
          <a:lstStyle/>
          <a:p>
            <a:pPr algn="ctr"/>
            <a:r>
              <a:rPr lang="en-IN" sz="2400" u="sng" dirty="0"/>
              <a:t>QUERY</a:t>
            </a:r>
            <a:endParaRPr lang="en-IN" sz="2400" u="sng" dirty="0"/>
          </a:p>
        </p:txBody>
      </p:sp>
      <p:sp>
        <p:nvSpPr>
          <p:cNvPr id="5" name="TextBox 4"/>
          <p:cNvSpPr txBox="1"/>
          <p:nvPr/>
        </p:nvSpPr>
        <p:spPr>
          <a:xfrm>
            <a:off x="6842927" y="2954213"/>
            <a:ext cx="3265714" cy="461665"/>
          </a:xfrm>
          <a:prstGeom prst="rect">
            <a:avLst/>
          </a:prstGeom>
          <a:noFill/>
        </p:spPr>
        <p:txBody>
          <a:bodyPr wrap="square" rtlCol="0">
            <a:spAutoFit/>
          </a:bodyPr>
          <a:lstStyle/>
          <a:p>
            <a:pPr algn="ctr"/>
            <a:r>
              <a:rPr lang="en-IN" sz="2400" u="sng" dirty="0"/>
              <a:t>OUTPUT</a:t>
            </a:r>
            <a:endParaRPr lang="en-IN" sz="2400" u="sng" dirty="0"/>
          </a:p>
        </p:txBody>
      </p:sp>
      <p:pic>
        <p:nvPicPr>
          <p:cNvPr id="7" name="Picture 6"/>
          <p:cNvPicPr>
            <a:picLocks noChangeAspect="1"/>
          </p:cNvPicPr>
          <p:nvPr/>
        </p:nvPicPr>
        <p:blipFill>
          <a:blip r:embed="rId1"/>
          <a:stretch>
            <a:fillRect/>
          </a:stretch>
        </p:blipFill>
        <p:spPr>
          <a:xfrm>
            <a:off x="349405" y="3429000"/>
            <a:ext cx="5887272" cy="3105583"/>
          </a:xfrm>
          <a:prstGeom prst="rect">
            <a:avLst/>
          </a:prstGeom>
        </p:spPr>
      </p:pic>
      <p:pic>
        <p:nvPicPr>
          <p:cNvPr id="9" name="Picture 8"/>
          <p:cNvPicPr>
            <a:picLocks noChangeAspect="1"/>
          </p:cNvPicPr>
          <p:nvPr/>
        </p:nvPicPr>
        <p:blipFill>
          <a:blip r:embed="rId2"/>
          <a:stretch>
            <a:fillRect/>
          </a:stretch>
        </p:blipFill>
        <p:spPr>
          <a:xfrm>
            <a:off x="7151624" y="3442123"/>
            <a:ext cx="2648320" cy="281979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21548"/>
          </a:xfrm>
        </p:spPr>
        <p:txBody>
          <a:bodyPr>
            <a:normAutofit/>
          </a:bodyPr>
          <a:lstStyle/>
          <a:p>
            <a:r>
              <a:rPr lang="en-US" sz="3600" b="1"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968828" y="1463884"/>
            <a:ext cx="10515600" cy="807043"/>
          </a:xfrm>
        </p:spPr>
        <p:txBody>
          <a:bodyPr>
            <a:noAutofit/>
          </a:bodyPr>
          <a:lstStyle/>
          <a:p>
            <a:pPr marL="114300" indent="0">
              <a:buNone/>
            </a:pPr>
            <a:r>
              <a:rPr lang="en-US" dirty="0"/>
              <a:t> 9.What is the average yearly change in emissions per capita for each   </a:t>
            </a:r>
            <a:endParaRPr lang="en-US" dirty="0"/>
          </a:p>
          <a:p>
            <a:pPr marL="114300" indent="0">
              <a:buNone/>
            </a:pPr>
            <a:r>
              <a:rPr lang="en-US" dirty="0"/>
              <a:t>country?</a:t>
            </a:r>
            <a:endParaRPr lang="en-IN" dirty="0"/>
          </a:p>
        </p:txBody>
      </p:sp>
      <p:sp>
        <p:nvSpPr>
          <p:cNvPr id="4" name="TextBox 3"/>
          <p:cNvSpPr txBox="1"/>
          <p:nvPr/>
        </p:nvSpPr>
        <p:spPr>
          <a:xfrm>
            <a:off x="968828" y="2832071"/>
            <a:ext cx="3607359" cy="461665"/>
          </a:xfrm>
          <a:prstGeom prst="rect">
            <a:avLst/>
          </a:prstGeom>
          <a:noFill/>
        </p:spPr>
        <p:txBody>
          <a:bodyPr wrap="square" rtlCol="0">
            <a:spAutoFit/>
          </a:bodyPr>
          <a:lstStyle/>
          <a:p>
            <a:pPr algn="ctr"/>
            <a:r>
              <a:rPr lang="en-IN" sz="2400" u="sng" dirty="0"/>
              <a:t>QUERY</a:t>
            </a:r>
            <a:endParaRPr lang="en-IN" sz="2400" u="sng" dirty="0"/>
          </a:p>
        </p:txBody>
      </p:sp>
      <p:sp>
        <p:nvSpPr>
          <p:cNvPr id="5" name="TextBox 4"/>
          <p:cNvSpPr txBox="1"/>
          <p:nvPr/>
        </p:nvSpPr>
        <p:spPr>
          <a:xfrm>
            <a:off x="6812782" y="2832070"/>
            <a:ext cx="3326005" cy="461665"/>
          </a:xfrm>
          <a:prstGeom prst="rect">
            <a:avLst/>
          </a:prstGeom>
          <a:noFill/>
        </p:spPr>
        <p:txBody>
          <a:bodyPr wrap="square" rtlCol="0">
            <a:spAutoFit/>
          </a:bodyPr>
          <a:lstStyle/>
          <a:p>
            <a:pPr algn="ctr"/>
            <a:r>
              <a:rPr lang="en-IN" sz="2400" u="sng" dirty="0"/>
              <a:t>OUTPUT</a:t>
            </a:r>
            <a:endParaRPr lang="en-IN" sz="2400" u="sng" dirty="0"/>
          </a:p>
        </p:txBody>
      </p:sp>
      <p:pic>
        <p:nvPicPr>
          <p:cNvPr id="7" name="Picture 6"/>
          <p:cNvPicPr>
            <a:picLocks noChangeAspect="1"/>
          </p:cNvPicPr>
          <p:nvPr/>
        </p:nvPicPr>
        <p:blipFill>
          <a:blip r:embed="rId1"/>
          <a:stretch>
            <a:fillRect/>
          </a:stretch>
        </p:blipFill>
        <p:spPr>
          <a:xfrm>
            <a:off x="320304" y="3679551"/>
            <a:ext cx="5906324" cy="1414963"/>
          </a:xfrm>
          <a:prstGeom prst="rect">
            <a:avLst/>
          </a:prstGeom>
        </p:spPr>
      </p:pic>
      <p:pic>
        <p:nvPicPr>
          <p:cNvPr id="9" name="Picture 8"/>
          <p:cNvPicPr>
            <a:picLocks noChangeAspect="1"/>
          </p:cNvPicPr>
          <p:nvPr/>
        </p:nvPicPr>
        <p:blipFill>
          <a:blip r:embed="rId2"/>
          <a:stretch>
            <a:fillRect/>
          </a:stretch>
        </p:blipFill>
        <p:spPr>
          <a:xfrm>
            <a:off x="7076242" y="3293735"/>
            <a:ext cx="3686689" cy="288647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7717" y="334981"/>
            <a:ext cx="10515600" cy="1081838"/>
          </a:xfrm>
        </p:spPr>
        <p:txBody>
          <a:bodyPr>
            <a:normAutofit/>
          </a:bodyPr>
          <a:lstStyle/>
          <a:p>
            <a:r>
              <a:rPr lang="en-US" sz="3600" b="1"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838200" y="1416819"/>
            <a:ext cx="10515600" cy="827140"/>
          </a:xfrm>
        </p:spPr>
        <p:txBody>
          <a:bodyPr/>
          <a:lstStyle/>
          <a:p>
            <a:pPr marL="114300" indent="0">
              <a:buNone/>
            </a:pPr>
            <a:r>
              <a:rPr lang="en-IN" dirty="0"/>
              <a:t>10.</a:t>
            </a:r>
            <a:r>
              <a:rPr lang="en-US" dirty="0"/>
              <a:t> What is the emission-to-GDP ratio for each country by year?</a:t>
            </a:r>
            <a:endParaRPr lang="en-IN" dirty="0"/>
          </a:p>
        </p:txBody>
      </p:sp>
      <p:sp>
        <p:nvSpPr>
          <p:cNvPr id="4" name="TextBox 3"/>
          <p:cNvSpPr txBox="1"/>
          <p:nvPr/>
        </p:nvSpPr>
        <p:spPr>
          <a:xfrm>
            <a:off x="1135464" y="2773345"/>
            <a:ext cx="3577213" cy="461665"/>
          </a:xfrm>
          <a:prstGeom prst="rect">
            <a:avLst/>
          </a:prstGeom>
          <a:noFill/>
        </p:spPr>
        <p:txBody>
          <a:bodyPr wrap="square" rtlCol="0">
            <a:spAutoFit/>
          </a:bodyPr>
          <a:lstStyle/>
          <a:p>
            <a:pPr algn="ctr"/>
            <a:r>
              <a:rPr lang="en-IN" sz="2400" u="sng" dirty="0"/>
              <a:t>QUERY</a:t>
            </a:r>
            <a:endParaRPr lang="en-IN" sz="2400" u="sng" dirty="0"/>
          </a:p>
        </p:txBody>
      </p:sp>
      <p:sp>
        <p:nvSpPr>
          <p:cNvPr id="5" name="TextBox 4"/>
          <p:cNvSpPr txBox="1"/>
          <p:nvPr/>
        </p:nvSpPr>
        <p:spPr>
          <a:xfrm>
            <a:off x="6240026" y="2773344"/>
            <a:ext cx="3748035" cy="461665"/>
          </a:xfrm>
          <a:prstGeom prst="rect">
            <a:avLst/>
          </a:prstGeom>
          <a:noFill/>
        </p:spPr>
        <p:txBody>
          <a:bodyPr wrap="square" rtlCol="0">
            <a:spAutoFit/>
          </a:bodyPr>
          <a:lstStyle/>
          <a:p>
            <a:pPr algn="ctr"/>
            <a:r>
              <a:rPr lang="en-IN" sz="2400" u="sng" dirty="0"/>
              <a:t>OUTPUT</a:t>
            </a:r>
            <a:endParaRPr lang="en-IN" sz="2400" u="sng" dirty="0"/>
          </a:p>
        </p:txBody>
      </p:sp>
      <p:pic>
        <p:nvPicPr>
          <p:cNvPr id="7" name="Picture 6"/>
          <p:cNvPicPr>
            <a:picLocks noChangeAspect="1"/>
          </p:cNvPicPr>
          <p:nvPr/>
        </p:nvPicPr>
        <p:blipFill>
          <a:blip r:embed="rId1"/>
          <a:stretch>
            <a:fillRect/>
          </a:stretch>
        </p:blipFill>
        <p:spPr>
          <a:xfrm>
            <a:off x="327081" y="3699514"/>
            <a:ext cx="6192114" cy="1829055"/>
          </a:xfrm>
          <a:prstGeom prst="rect">
            <a:avLst/>
          </a:prstGeom>
        </p:spPr>
      </p:pic>
      <p:pic>
        <p:nvPicPr>
          <p:cNvPr id="9" name="Picture 8"/>
          <p:cNvPicPr>
            <a:picLocks noChangeAspect="1"/>
          </p:cNvPicPr>
          <p:nvPr/>
        </p:nvPicPr>
        <p:blipFill>
          <a:blip r:embed="rId2"/>
          <a:stretch>
            <a:fillRect/>
          </a:stretch>
        </p:blipFill>
        <p:spPr>
          <a:xfrm>
            <a:off x="6956340" y="3235009"/>
            <a:ext cx="3353268" cy="295316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232563"/>
          </a:xfrm>
        </p:spPr>
        <p:txBody>
          <a:bodyPr>
            <a:normAutofit/>
          </a:bodyPr>
          <a:lstStyle/>
          <a:p>
            <a:r>
              <a:rPr lang="en-US" sz="3600" b="1"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978877" y="1423691"/>
            <a:ext cx="10515600" cy="987913"/>
          </a:xfrm>
        </p:spPr>
        <p:txBody>
          <a:bodyPr/>
          <a:lstStyle/>
          <a:p>
            <a:pPr marL="114300" indent="0">
              <a:buNone/>
            </a:pPr>
            <a:r>
              <a:rPr lang="en-IN" dirty="0"/>
              <a:t>11.</a:t>
            </a:r>
            <a:r>
              <a:rPr lang="en-US" dirty="0"/>
              <a:t> What is the energy consumption per capita for each country over the last decade?</a:t>
            </a:r>
            <a:endParaRPr lang="en-IN" dirty="0"/>
          </a:p>
        </p:txBody>
      </p:sp>
      <p:sp>
        <p:nvSpPr>
          <p:cNvPr id="4" name="TextBox 3"/>
          <p:cNvSpPr txBox="1"/>
          <p:nvPr/>
        </p:nvSpPr>
        <p:spPr>
          <a:xfrm>
            <a:off x="677426" y="2656254"/>
            <a:ext cx="4035251" cy="461665"/>
          </a:xfrm>
          <a:prstGeom prst="rect">
            <a:avLst/>
          </a:prstGeom>
          <a:noFill/>
        </p:spPr>
        <p:txBody>
          <a:bodyPr wrap="square" rtlCol="0">
            <a:spAutoFit/>
          </a:bodyPr>
          <a:lstStyle/>
          <a:p>
            <a:pPr algn="ctr"/>
            <a:r>
              <a:rPr lang="en-IN" sz="2400" u="sng" dirty="0"/>
              <a:t>QUERY</a:t>
            </a:r>
            <a:endParaRPr lang="en-IN" sz="2400" u="sng" dirty="0"/>
          </a:p>
        </p:txBody>
      </p:sp>
      <p:sp>
        <p:nvSpPr>
          <p:cNvPr id="5" name="TextBox 4"/>
          <p:cNvSpPr txBox="1"/>
          <p:nvPr/>
        </p:nvSpPr>
        <p:spPr>
          <a:xfrm>
            <a:off x="6531429" y="2656253"/>
            <a:ext cx="3959050" cy="461665"/>
          </a:xfrm>
          <a:prstGeom prst="rect">
            <a:avLst/>
          </a:prstGeom>
          <a:noFill/>
        </p:spPr>
        <p:txBody>
          <a:bodyPr wrap="square" rtlCol="0">
            <a:spAutoFit/>
          </a:bodyPr>
          <a:lstStyle/>
          <a:p>
            <a:pPr algn="ctr"/>
            <a:r>
              <a:rPr lang="en-IN" sz="2400" dirty="0"/>
              <a:t>OUTPUT</a:t>
            </a:r>
            <a:endParaRPr lang="en-IN" sz="2400" dirty="0"/>
          </a:p>
        </p:txBody>
      </p:sp>
      <p:pic>
        <p:nvPicPr>
          <p:cNvPr id="7" name="Picture 6"/>
          <p:cNvPicPr>
            <a:picLocks noChangeAspect="1"/>
          </p:cNvPicPr>
          <p:nvPr/>
        </p:nvPicPr>
        <p:blipFill>
          <a:blip r:embed="rId1"/>
          <a:stretch>
            <a:fillRect/>
          </a:stretch>
        </p:blipFill>
        <p:spPr>
          <a:xfrm>
            <a:off x="323037" y="3577214"/>
            <a:ext cx="6308875" cy="1738366"/>
          </a:xfrm>
          <a:prstGeom prst="rect">
            <a:avLst/>
          </a:prstGeom>
        </p:spPr>
      </p:pic>
      <p:pic>
        <p:nvPicPr>
          <p:cNvPr id="9" name="Picture 8"/>
          <p:cNvPicPr>
            <a:picLocks noChangeAspect="1"/>
          </p:cNvPicPr>
          <p:nvPr/>
        </p:nvPicPr>
        <p:blipFill>
          <a:blip r:embed="rId2"/>
          <a:stretch>
            <a:fillRect/>
          </a:stretch>
        </p:blipFill>
        <p:spPr>
          <a:xfrm>
            <a:off x="7309963" y="3117918"/>
            <a:ext cx="3781953" cy="289600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68614"/>
          </a:xfrm>
        </p:spPr>
        <p:txBody>
          <a:bodyPr>
            <a:normAutofit/>
          </a:bodyPr>
          <a:lstStyle/>
          <a:p>
            <a:r>
              <a:rPr lang="en-US" sz="3600" b="1"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1009022" y="1433739"/>
            <a:ext cx="10515600" cy="726657"/>
          </a:xfrm>
        </p:spPr>
        <p:txBody>
          <a:bodyPr/>
          <a:lstStyle/>
          <a:p>
            <a:pPr marL="114300" indent="0">
              <a:buNone/>
            </a:pPr>
            <a:r>
              <a:rPr lang="en-IN" dirty="0"/>
              <a:t>12.</a:t>
            </a:r>
            <a:r>
              <a:rPr lang="en-US" dirty="0"/>
              <a:t> How does energy production per capita vary across countries? </a:t>
            </a:r>
            <a:endParaRPr lang="en-IN" dirty="0"/>
          </a:p>
        </p:txBody>
      </p:sp>
      <p:sp>
        <p:nvSpPr>
          <p:cNvPr id="4" name="TextBox 3"/>
          <p:cNvSpPr txBox="1"/>
          <p:nvPr/>
        </p:nvSpPr>
        <p:spPr>
          <a:xfrm>
            <a:off x="1099457" y="2616060"/>
            <a:ext cx="4256314" cy="461665"/>
          </a:xfrm>
          <a:prstGeom prst="rect">
            <a:avLst/>
          </a:prstGeom>
          <a:noFill/>
        </p:spPr>
        <p:txBody>
          <a:bodyPr wrap="square" rtlCol="0">
            <a:spAutoFit/>
          </a:bodyPr>
          <a:lstStyle/>
          <a:p>
            <a:pPr algn="ctr"/>
            <a:r>
              <a:rPr lang="en-IN" sz="2400" u="sng" dirty="0"/>
              <a:t>QUERY</a:t>
            </a:r>
            <a:endParaRPr lang="en-IN" sz="2400" u="sng" dirty="0"/>
          </a:p>
        </p:txBody>
      </p:sp>
      <p:sp>
        <p:nvSpPr>
          <p:cNvPr id="5" name="TextBox 4"/>
          <p:cNvSpPr txBox="1"/>
          <p:nvPr/>
        </p:nvSpPr>
        <p:spPr>
          <a:xfrm>
            <a:off x="5908429" y="2616059"/>
            <a:ext cx="4531807" cy="461665"/>
          </a:xfrm>
          <a:prstGeom prst="rect">
            <a:avLst/>
          </a:prstGeom>
          <a:noFill/>
        </p:spPr>
        <p:txBody>
          <a:bodyPr wrap="square" rtlCol="0">
            <a:spAutoFit/>
          </a:bodyPr>
          <a:lstStyle/>
          <a:p>
            <a:pPr algn="ctr"/>
            <a:r>
              <a:rPr lang="en-IN" sz="2400" u="sng" dirty="0"/>
              <a:t>OUTPUT</a:t>
            </a:r>
            <a:endParaRPr lang="en-IN" sz="2400" u="sng" dirty="0"/>
          </a:p>
        </p:txBody>
      </p:sp>
      <p:pic>
        <p:nvPicPr>
          <p:cNvPr id="7" name="Picture 6"/>
          <p:cNvPicPr>
            <a:picLocks noChangeAspect="1"/>
          </p:cNvPicPr>
          <p:nvPr/>
        </p:nvPicPr>
        <p:blipFill>
          <a:blip r:embed="rId1"/>
          <a:stretch>
            <a:fillRect/>
          </a:stretch>
        </p:blipFill>
        <p:spPr>
          <a:xfrm>
            <a:off x="321079" y="3429000"/>
            <a:ext cx="6501751" cy="1806371"/>
          </a:xfrm>
          <a:prstGeom prst="rect">
            <a:avLst/>
          </a:prstGeom>
        </p:spPr>
      </p:pic>
      <p:pic>
        <p:nvPicPr>
          <p:cNvPr id="9" name="Picture 8"/>
          <p:cNvPicPr>
            <a:picLocks noChangeAspect="1"/>
          </p:cNvPicPr>
          <p:nvPr/>
        </p:nvPicPr>
        <p:blipFill>
          <a:blip r:embed="rId2"/>
          <a:stretch>
            <a:fillRect/>
          </a:stretch>
        </p:blipFill>
        <p:spPr>
          <a:xfrm>
            <a:off x="7020650" y="3077724"/>
            <a:ext cx="3858163" cy="289600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11499"/>
          </a:xfrm>
        </p:spPr>
        <p:txBody>
          <a:bodyPr>
            <a:normAutofit/>
          </a:bodyPr>
          <a:lstStyle/>
          <a:p>
            <a:pPr algn="ctr"/>
            <a:r>
              <a:rPr lang="en-US" sz="3600" b="1" u="sng" dirty="0">
                <a:solidFill>
                  <a:srgbClr val="FF0000"/>
                </a:solidFill>
              </a:rPr>
              <a:t>SQL query results with screenshots or summaries</a:t>
            </a:r>
            <a:endParaRPr lang="en-IN" sz="3600" u="sng" dirty="0"/>
          </a:p>
        </p:txBody>
      </p:sp>
      <p:sp>
        <p:nvSpPr>
          <p:cNvPr id="3" name="Text Placeholder 2"/>
          <p:cNvSpPr>
            <a:spLocks noGrp="1"/>
          </p:cNvSpPr>
          <p:nvPr>
            <p:ph type="body" idx="1"/>
          </p:nvPr>
        </p:nvSpPr>
        <p:spPr>
          <a:xfrm>
            <a:off x="1099457" y="1376624"/>
            <a:ext cx="10515600" cy="1088397"/>
          </a:xfrm>
        </p:spPr>
        <p:txBody>
          <a:bodyPr/>
          <a:lstStyle/>
          <a:p>
            <a:pPr marL="114300" indent="0">
              <a:buNone/>
            </a:pPr>
            <a:r>
              <a:rPr lang="en-IN" dirty="0"/>
              <a:t>13.</a:t>
            </a:r>
            <a:r>
              <a:rPr lang="en-US" dirty="0"/>
              <a:t> Which countries have the highest energy consumption relative to GDP?</a:t>
            </a:r>
            <a:endParaRPr lang="en-IN" dirty="0"/>
          </a:p>
        </p:txBody>
      </p:sp>
      <p:sp>
        <p:nvSpPr>
          <p:cNvPr id="4" name="TextBox 3"/>
          <p:cNvSpPr txBox="1"/>
          <p:nvPr/>
        </p:nvSpPr>
        <p:spPr>
          <a:xfrm>
            <a:off x="838200" y="2703007"/>
            <a:ext cx="4246266" cy="461665"/>
          </a:xfrm>
          <a:prstGeom prst="rect">
            <a:avLst/>
          </a:prstGeom>
          <a:noFill/>
        </p:spPr>
        <p:txBody>
          <a:bodyPr wrap="square" rtlCol="0">
            <a:spAutoFit/>
          </a:bodyPr>
          <a:lstStyle/>
          <a:p>
            <a:pPr algn="ctr"/>
            <a:r>
              <a:rPr lang="en-IN" sz="2400" u="sng" dirty="0"/>
              <a:t>QUERY</a:t>
            </a:r>
            <a:endParaRPr lang="en-IN" sz="2400" u="sng" dirty="0"/>
          </a:p>
        </p:txBody>
      </p:sp>
      <p:sp>
        <p:nvSpPr>
          <p:cNvPr id="5" name="TextBox 4"/>
          <p:cNvSpPr txBox="1"/>
          <p:nvPr/>
        </p:nvSpPr>
        <p:spPr>
          <a:xfrm>
            <a:off x="6390752" y="2703007"/>
            <a:ext cx="4069582" cy="461665"/>
          </a:xfrm>
          <a:prstGeom prst="rect">
            <a:avLst/>
          </a:prstGeom>
          <a:noFill/>
        </p:spPr>
        <p:txBody>
          <a:bodyPr wrap="square" rtlCol="0">
            <a:spAutoFit/>
          </a:bodyPr>
          <a:lstStyle/>
          <a:p>
            <a:pPr algn="ctr"/>
            <a:r>
              <a:rPr lang="en-IN" sz="2400" u="sng" dirty="0"/>
              <a:t>OUTPUT</a:t>
            </a:r>
            <a:endParaRPr lang="en-IN" sz="2400" u="sng" dirty="0"/>
          </a:p>
        </p:txBody>
      </p:sp>
      <p:pic>
        <p:nvPicPr>
          <p:cNvPr id="7" name="Picture 6"/>
          <p:cNvPicPr>
            <a:picLocks noChangeAspect="1"/>
          </p:cNvPicPr>
          <p:nvPr/>
        </p:nvPicPr>
        <p:blipFill>
          <a:blip r:embed="rId1"/>
          <a:stretch>
            <a:fillRect/>
          </a:stretch>
        </p:blipFill>
        <p:spPr>
          <a:xfrm>
            <a:off x="451145" y="3333606"/>
            <a:ext cx="5020376" cy="2434148"/>
          </a:xfrm>
          <a:prstGeom prst="rect">
            <a:avLst/>
          </a:prstGeom>
        </p:spPr>
      </p:pic>
      <p:pic>
        <p:nvPicPr>
          <p:cNvPr id="9" name="Picture 8"/>
          <p:cNvPicPr>
            <a:picLocks noChangeAspect="1"/>
          </p:cNvPicPr>
          <p:nvPr/>
        </p:nvPicPr>
        <p:blipFill>
          <a:blip r:embed="rId2"/>
          <a:stretch>
            <a:fillRect/>
          </a:stretch>
        </p:blipFill>
        <p:spPr>
          <a:xfrm>
            <a:off x="6240169" y="3250287"/>
            <a:ext cx="4411083" cy="306007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4835"/>
            <a:ext cx="10515600" cy="1132079"/>
          </a:xfrm>
        </p:spPr>
        <p:txBody>
          <a:bodyPr>
            <a:normAutofit/>
          </a:bodyPr>
          <a:lstStyle/>
          <a:p>
            <a:r>
              <a:rPr lang="en-US" sz="3600" b="1" u="sng"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978877" y="1293063"/>
            <a:ext cx="10515600" cy="1018059"/>
          </a:xfrm>
        </p:spPr>
        <p:txBody>
          <a:bodyPr/>
          <a:lstStyle/>
          <a:p>
            <a:pPr marL="114300" indent="0">
              <a:buNone/>
            </a:pPr>
            <a:r>
              <a:rPr lang="en-IN" dirty="0"/>
              <a:t>14.</a:t>
            </a:r>
            <a:r>
              <a:rPr lang="en-US" dirty="0"/>
              <a:t> What is the correlation between GDP growth and energy production growth?</a:t>
            </a:r>
            <a:endParaRPr lang="en-IN" dirty="0"/>
          </a:p>
        </p:txBody>
      </p:sp>
      <p:sp>
        <p:nvSpPr>
          <p:cNvPr id="4" name="TextBox 3"/>
          <p:cNvSpPr txBox="1"/>
          <p:nvPr/>
        </p:nvSpPr>
        <p:spPr>
          <a:xfrm>
            <a:off x="693336" y="2803769"/>
            <a:ext cx="4160017" cy="461665"/>
          </a:xfrm>
          <a:prstGeom prst="rect">
            <a:avLst/>
          </a:prstGeom>
          <a:noFill/>
        </p:spPr>
        <p:txBody>
          <a:bodyPr wrap="square" rtlCol="0">
            <a:spAutoFit/>
          </a:bodyPr>
          <a:lstStyle/>
          <a:p>
            <a:pPr algn="ctr"/>
            <a:r>
              <a:rPr lang="en-IN" sz="2400" u="sng" dirty="0"/>
              <a:t>QUERY</a:t>
            </a:r>
            <a:endParaRPr lang="en-IN" sz="2400" u="sng" dirty="0"/>
          </a:p>
        </p:txBody>
      </p:sp>
      <p:sp>
        <p:nvSpPr>
          <p:cNvPr id="5" name="TextBox 4"/>
          <p:cNvSpPr txBox="1"/>
          <p:nvPr/>
        </p:nvSpPr>
        <p:spPr>
          <a:xfrm>
            <a:off x="6430945" y="2803768"/>
            <a:ext cx="4602145" cy="461665"/>
          </a:xfrm>
          <a:prstGeom prst="rect">
            <a:avLst/>
          </a:prstGeom>
          <a:noFill/>
        </p:spPr>
        <p:txBody>
          <a:bodyPr wrap="square" rtlCol="0">
            <a:spAutoFit/>
          </a:bodyPr>
          <a:lstStyle/>
          <a:p>
            <a:pPr algn="ctr"/>
            <a:r>
              <a:rPr lang="en-IN" sz="2400" u="sng" dirty="0"/>
              <a:t>OUTPUT</a:t>
            </a:r>
            <a:endParaRPr lang="en-IN" sz="2400" u="sng" dirty="0"/>
          </a:p>
        </p:txBody>
      </p:sp>
      <p:pic>
        <p:nvPicPr>
          <p:cNvPr id="7" name="Picture 6"/>
          <p:cNvPicPr>
            <a:picLocks noChangeAspect="1"/>
          </p:cNvPicPr>
          <p:nvPr/>
        </p:nvPicPr>
        <p:blipFill>
          <a:blip r:embed="rId1"/>
          <a:stretch>
            <a:fillRect/>
          </a:stretch>
        </p:blipFill>
        <p:spPr>
          <a:xfrm>
            <a:off x="547293" y="3592567"/>
            <a:ext cx="4143953" cy="1972370"/>
          </a:xfrm>
          <a:prstGeom prst="rect">
            <a:avLst/>
          </a:prstGeom>
        </p:spPr>
      </p:pic>
      <p:pic>
        <p:nvPicPr>
          <p:cNvPr id="9" name="Picture 8"/>
          <p:cNvPicPr>
            <a:picLocks noChangeAspect="1"/>
          </p:cNvPicPr>
          <p:nvPr/>
        </p:nvPicPr>
        <p:blipFill>
          <a:blip r:embed="rId2"/>
          <a:stretch>
            <a:fillRect/>
          </a:stretch>
        </p:blipFill>
        <p:spPr>
          <a:xfrm>
            <a:off x="6293276" y="3265433"/>
            <a:ext cx="4877481" cy="285789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42128"/>
          </a:xfrm>
        </p:spPr>
        <p:txBody>
          <a:bodyPr>
            <a:normAutofit/>
          </a:bodyPr>
          <a:lstStyle/>
          <a:p>
            <a:r>
              <a:rPr lang="en-US" sz="3600" b="1" u="sng"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988925" y="1507254"/>
            <a:ext cx="10515600" cy="1048204"/>
          </a:xfrm>
        </p:spPr>
        <p:txBody>
          <a:bodyPr/>
          <a:lstStyle/>
          <a:p>
            <a:pPr marL="114300" indent="0">
              <a:buNone/>
            </a:pPr>
            <a:r>
              <a:rPr lang="en-IN" dirty="0"/>
              <a:t>15.</a:t>
            </a:r>
            <a:r>
              <a:rPr lang="en-US" dirty="0"/>
              <a:t> What are the top 10 countries by population and how do their emissions compare? </a:t>
            </a:r>
            <a:endParaRPr lang="en-IN" dirty="0"/>
          </a:p>
        </p:txBody>
      </p:sp>
      <p:sp>
        <p:nvSpPr>
          <p:cNvPr id="4" name="TextBox 3"/>
          <p:cNvSpPr txBox="1"/>
          <p:nvPr/>
        </p:nvSpPr>
        <p:spPr>
          <a:xfrm>
            <a:off x="988925" y="2997200"/>
            <a:ext cx="3788229" cy="461665"/>
          </a:xfrm>
          <a:prstGeom prst="rect">
            <a:avLst/>
          </a:prstGeom>
          <a:noFill/>
        </p:spPr>
        <p:txBody>
          <a:bodyPr wrap="square" rtlCol="0">
            <a:spAutoFit/>
          </a:bodyPr>
          <a:lstStyle/>
          <a:p>
            <a:pPr algn="ctr"/>
            <a:r>
              <a:rPr lang="en-IN" sz="2400" u="sng" dirty="0"/>
              <a:t>QUERY</a:t>
            </a:r>
            <a:endParaRPr lang="en-IN" sz="2400" u="sng" dirty="0"/>
          </a:p>
        </p:txBody>
      </p:sp>
      <p:sp>
        <p:nvSpPr>
          <p:cNvPr id="5" name="TextBox 4"/>
          <p:cNvSpPr txBox="1"/>
          <p:nvPr/>
        </p:nvSpPr>
        <p:spPr>
          <a:xfrm>
            <a:off x="7184571" y="2967335"/>
            <a:ext cx="3215473" cy="461665"/>
          </a:xfrm>
          <a:prstGeom prst="rect">
            <a:avLst/>
          </a:prstGeom>
          <a:noFill/>
        </p:spPr>
        <p:txBody>
          <a:bodyPr wrap="square" rtlCol="0">
            <a:spAutoFit/>
          </a:bodyPr>
          <a:lstStyle/>
          <a:p>
            <a:pPr algn="ctr"/>
            <a:r>
              <a:rPr lang="en-IN" sz="2400" u="sng" dirty="0"/>
              <a:t>OUTPUT</a:t>
            </a:r>
            <a:endParaRPr lang="en-IN" sz="2400" u="sng" dirty="0"/>
          </a:p>
        </p:txBody>
      </p:sp>
      <p:pic>
        <p:nvPicPr>
          <p:cNvPr id="7" name="Picture 6"/>
          <p:cNvPicPr>
            <a:picLocks noChangeAspect="1"/>
          </p:cNvPicPr>
          <p:nvPr/>
        </p:nvPicPr>
        <p:blipFill>
          <a:blip r:embed="rId1"/>
          <a:stretch>
            <a:fillRect/>
          </a:stretch>
        </p:blipFill>
        <p:spPr>
          <a:xfrm>
            <a:off x="1160307" y="3501570"/>
            <a:ext cx="3962953" cy="2743583"/>
          </a:xfrm>
          <a:prstGeom prst="rect">
            <a:avLst/>
          </a:prstGeom>
        </p:spPr>
      </p:pic>
      <p:pic>
        <p:nvPicPr>
          <p:cNvPr id="9" name="Picture 8"/>
          <p:cNvPicPr>
            <a:picLocks noChangeAspect="1"/>
          </p:cNvPicPr>
          <p:nvPr/>
        </p:nvPicPr>
        <p:blipFill>
          <a:blip r:embed="rId2"/>
          <a:stretch>
            <a:fillRect/>
          </a:stretch>
        </p:blipFill>
        <p:spPr>
          <a:xfrm>
            <a:off x="6921992" y="3501570"/>
            <a:ext cx="3638826" cy="255758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42128"/>
          </a:xfrm>
        </p:spPr>
        <p:txBody>
          <a:bodyPr>
            <a:normAutofit/>
          </a:bodyPr>
          <a:lstStyle/>
          <a:p>
            <a:r>
              <a:rPr lang="en-US" sz="3600" b="1" u="sng"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938684" y="1507254"/>
            <a:ext cx="10515600" cy="817091"/>
          </a:xfrm>
        </p:spPr>
        <p:txBody>
          <a:bodyPr/>
          <a:lstStyle/>
          <a:p>
            <a:pPr marL="114300" indent="0">
              <a:buNone/>
            </a:pPr>
            <a:r>
              <a:rPr lang="en-IN" dirty="0"/>
              <a:t>16.</a:t>
            </a:r>
            <a:r>
              <a:rPr lang="en-US" dirty="0"/>
              <a:t> What is the global share (%) of emissions by country?</a:t>
            </a:r>
            <a:endParaRPr lang="en-IN" dirty="0"/>
          </a:p>
        </p:txBody>
      </p:sp>
      <p:sp>
        <p:nvSpPr>
          <p:cNvPr id="4" name="TextBox 3"/>
          <p:cNvSpPr txBox="1"/>
          <p:nvPr/>
        </p:nvSpPr>
        <p:spPr>
          <a:xfrm>
            <a:off x="938684" y="2653324"/>
            <a:ext cx="4517571" cy="461665"/>
          </a:xfrm>
          <a:prstGeom prst="rect">
            <a:avLst/>
          </a:prstGeom>
          <a:noFill/>
        </p:spPr>
        <p:txBody>
          <a:bodyPr wrap="square" rtlCol="0">
            <a:spAutoFit/>
          </a:bodyPr>
          <a:lstStyle/>
          <a:p>
            <a:pPr algn="ctr"/>
            <a:r>
              <a:rPr lang="en-IN" sz="2400" u="sng" dirty="0"/>
              <a:t>QUERY</a:t>
            </a:r>
            <a:endParaRPr lang="en-IN" sz="2400" u="sng" dirty="0"/>
          </a:p>
        </p:txBody>
      </p:sp>
      <p:sp>
        <p:nvSpPr>
          <p:cNvPr id="5" name="TextBox 4"/>
          <p:cNvSpPr txBox="1"/>
          <p:nvPr/>
        </p:nvSpPr>
        <p:spPr>
          <a:xfrm>
            <a:off x="6521380" y="2653324"/>
            <a:ext cx="5164853" cy="461665"/>
          </a:xfrm>
          <a:prstGeom prst="rect">
            <a:avLst/>
          </a:prstGeom>
          <a:noFill/>
        </p:spPr>
        <p:txBody>
          <a:bodyPr wrap="square" rtlCol="0">
            <a:spAutoFit/>
          </a:bodyPr>
          <a:lstStyle/>
          <a:p>
            <a:pPr algn="ctr"/>
            <a:r>
              <a:rPr lang="en-IN" sz="2400" u="sng" dirty="0"/>
              <a:t>OUTPUT</a:t>
            </a:r>
            <a:endParaRPr lang="en-IN" sz="2400" u="sng" dirty="0"/>
          </a:p>
        </p:txBody>
      </p:sp>
      <p:pic>
        <p:nvPicPr>
          <p:cNvPr id="7" name="Picture 6"/>
          <p:cNvPicPr>
            <a:picLocks noChangeAspect="1"/>
          </p:cNvPicPr>
          <p:nvPr/>
        </p:nvPicPr>
        <p:blipFill>
          <a:blip r:embed="rId1"/>
          <a:stretch>
            <a:fillRect/>
          </a:stretch>
        </p:blipFill>
        <p:spPr>
          <a:xfrm>
            <a:off x="181447" y="3466473"/>
            <a:ext cx="6118870" cy="2457793"/>
          </a:xfrm>
          <a:prstGeom prst="rect">
            <a:avLst/>
          </a:prstGeom>
        </p:spPr>
      </p:pic>
      <p:pic>
        <p:nvPicPr>
          <p:cNvPr id="9" name="Picture 8"/>
          <p:cNvPicPr>
            <a:picLocks noChangeAspect="1"/>
          </p:cNvPicPr>
          <p:nvPr/>
        </p:nvPicPr>
        <p:blipFill>
          <a:blip r:embed="rId2"/>
          <a:stretch>
            <a:fillRect/>
          </a:stretch>
        </p:blipFill>
        <p:spPr>
          <a:xfrm>
            <a:off x="6863024" y="3114989"/>
            <a:ext cx="3888712" cy="292458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11983"/>
          </a:xfrm>
        </p:spPr>
        <p:txBody>
          <a:bodyPr>
            <a:normAutofit/>
          </a:bodyPr>
          <a:lstStyle/>
          <a:p>
            <a:r>
              <a:rPr lang="en-US" sz="3600" b="1" u="sng" dirty="0">
                <a:solidFill>
                  <a:srgbClr val="FF0000"/>
                </a:solidFill>
              </a:rPr>
              <a:t>SQL query results with screenshots or summaries</a:t>
            </a:r>
            <a:endParaRPr lang="en-IN" sz="3600" dirty="0"/>
          </a:p>
        </p:txBody>
      </p:sp>
      <p:sp>
        <p:nvSpPr>
          <p:cNvPr id="3" name="Text Placeholder 2"/>
          <p:cNvSpPr>
            <a:spLocks noGrp="1"/>
          </p:cNvSpPr>
          <p:nvPr>
            <p:ph type="body" idx="1"/>
          </p:nvPr>
        </p:nvSpPr>
        <p:spPr>
          <a:xfrm>
            <a:off x="988925" y="1477108"/>
            <a:ext cx="10515600" cy="927623"/>
          </a:xfrm>
        </p:spPr>
        <p:txBody>
          <a:bodyPr>
            <a:normAutofit/>
          </a:bodyPr>
          <a:lstStyle/>
          <a:p>
            <a:pPr marL="114300" indent="0">
              <a:buNone/>
            </a:pPr>
            <a:r>
              <a:rPr lang="en-IN" dirty="0"/>
              <a:t>17.</a:t>
            </a:r>
            <a:r>
              <a:rPr lang="en-US" dirty="0"/>
              <a:t> What is the global average GDP, emission, and population by year?</a:t>
            </a:r>
            <a:endParaRPr lang="en-IN" dirty="0"/>
          </a:p>
        </p:txBody>
      </p:sp>
      <p:sp>
        <p:nvSpPr>
          <p:cNvPr id="4" name="TextBox 3"/>
          <p:cNvSpPr txBox="1"/>
          <p:nvPr/>
        </p:nvSpPr>
        <p:spPr>
          <a:xfrm>
            <a:off x="838200" y="2572378"/>
            <a:ext cx="3784042" cy="461665"/>
          </a:xfrm>
          <a:prstGeom prst="rect">
            <a:avLst/>
          </a:prstGeom>
          <a:noFill/>
        </p:spPr>
        <p:txBody>
          <a:bodyPr wrap="square" rtlCol="0">
            <a:spAutoFit/>
          </a:bodyPr>
          <a:lstStyle/>
          <a:p>
            <a:pPr algn="ctr"/>
            <a:r>
              <a:rPr lang="en-IN" sz="2400" u="sng" dirty="0"/>
              <a:t>QUERY</a:t>
            </a:r>
            <a:endParaRPr lang="en-IN" sz="2400" u="sng" dirty="0"/>
          </a:p>
        </p:txBody>
      </p:sp>
      <p:sp>
        <p:nvSpPr>
          <p:cNvPr id="5" name="TextBox 4"/>
          <p:cNvSpPr txBox="1"/>
          <p:nvPr/>
        </p:nvSpPr>
        <p:spPr>
          <a:xfrm>
            <a:off x="6682154" y="2572378"/>
            <a:ext cx="3567165" cy="461665"/>
          </a:xfrm>
          <a:prstGeom prst="rect">
            <a:avLst/>
          </a:prstGeom>
          <a:noFill/>
        </p:spPr>
        <p:txBody>
          <a:bodyPr wrap="square" rtlCol="0">
            <a:spAutoFit/>
          </a:bodyPr>
          <a:lstStyle/>
          <a:p>
            <a:pPr algn="ctr"/>
            <a:r>
              <a:rPr lang="en-IN" sz="2400" u="sng" dirty="0"/>
              <a:t>OUTPUT</a:t>
            </a:r>
            <a:endParaRPr lang="en-IN" sz="2400" u="sng" dirty="0"/>
          </a:p>
        </p:txBody>
      </p:sp>
      <p:pic>
        <p:nvPicPr>
          <p:cNvPr id="7" name="Picture 6"/>
          <p:cNvPicPr>
            <a:picLocks noChangeAspect="1"/>
          </p:cNvPicPr>
          <p:nvPr/>
        </p:nvPicPr>
        <p:blipFill>
          <a:blip r:embed="rId1"/>
          <a:stretch>
            <a:fillRect/>
          </a:stretch>
        </p:blipFill>
        <p:spPr>
          <a:xfrm>
            <a:off x="687474" y="3201690"/>
            <a:ext cx="4256315" cy="3148868"/>
          </a:xfrm>
          <a:prstGeom prst="rect">
            <a:avLst/>
          </a:prstGeom>
        </p:spPr>
      </p:pic>
      <p:pic>
        <p:nvPicPr>
          <p:cNvPr id="9" name="Picture 8"/>
          <p:cNvPicPr>
            <a:picLocks noChangeAspect="1"/>
          </p:cNvPicPr>
          <p:nvPr/>
        </p:nvPicPr>
        <p:blipFill>
          <a:blip r:embed="rId2"/>
          <a:stretch>
            <a:fillRect/>
          </a:stretch>
        </p:blipFill>
        <p:spPr>
          <a:xfrm>
            <a:off x="6682154" y="3429000"/>
            <a:ext cx="3852938" cy="167125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282805"/>
          </a:xfrm>
        </p:spPr>
        <p:txBody>
          <a:bodyPr>
            <a:normAutofit/>
          </a:bodyPr>
          <a:lstStyle/>
          <a:p>
            <a:r>
              <a:rPr lang="en-US" sz="3600" b="1" dirty="0">
                <a:solidFill>
                  <a:srgbClr val="FF0000"/>
                </a:solidFill>
              </a:rPr>
              <a:t>Final business insights and recommendations</a:t>
            </a:r>
            <a:br>
              <a:rPr lang="en-US" sz="3600" dirty="0">
                <a:solidFill>
                  <a:srgbClr val="FF0000"/>
                </a:solidFill>
              </a:rPr>
            </a:br>
            <a:endParaRPr lang="en-IN" sz="3600" dirty="0">
              <a:solidFill>
                <a:srgbClr val="FF0000"/>
              </a:solidFill>
            </a:endParaRPr>
          </a:p>
        </p:txBody>
      </p:sp>
      <p:sp>
        <p:nvSpPr>
          <p:cNvPr id="3" name="Text Placeholder 2"/>
          <p:cNvSpPr>
            <a:spLocks noGrp="1"/>
          </p:cNvSpPr>
          <p:nvPr>
            <p:ph type="body" idx="1"/>
          </p:nvPr>
        </p:nvSpPr>
        <p:spPr>
          <a:xfrm>
            <a:off x="838200" y="1276141"/>
            <a:ext cx="10515600" cy="4900822"/>
          </a:xfrm>
        </p:spPr>
        <p:txBody>
          <a:bodyPr>
            <a:normAutofit fontScale="92500" lnSpcReduction="20000"/>
          </a:bodyPr>
          <a:lstStyle/>
          <a:p>
            <a:r>
              <a:rPr lang="en-US" dirty="0"/>
              <a:t>Countries with higher GDP tend to have increased energy consumption and emissions, indicating economic growth drives energy demand.</a:t>
            </a:r>
            <a:endParaRPr lang="en-US" dirty="0"/>
          </a:p>
          <a:p>
            <a:r>
              <a:rPr lang="en-US" dirty="0"/>
              <a:t>Emission-to-GDP ratios reveal efficiency levels; countries with lower ratios manage economic growth with less environmental impact.</a:t>
            </a:r>
            <a:endParaRPr lang="en-US" dirty="0"/>
          </a:p>
          <a:p>
            <a:r>
              <a:rPr lang="en-US" dirty="0"/>
              <a:t>Population growth correlates with rising emissions, highlighting the need for sustainable energy policies as populations increase.</a:t>
            </a:r>
            <a:endParaRPr lang="en-US" dirty="0"/>
          </a:p>
          <a:p>
            <a:r>
              <a:rPr lang="en-US" dirty="0"/>
              <a:t>Energy consumption and production trends over time suggest opportunities for investment in cleaner and more efficient energy sources.</a:t>
            </a:r>
            <a:endParaRPr lang="en-US" dirty="0"/>
          </a:p>
          <a:p>
            <a:r>
              <a:rPr lang="en-US" dirty="0"/>
              <a:t>Top energy-consuming countries should focus on reducing per capita emissions through renewable energy adoption and efficiency improvements.</a:t>
            </a:r>
            <a:endParaRPr lang="en-US" dirty="0"/>
          </a:p>
          <a:p>
            <a:r>
              <a:rPr lang="en-US" dirty="0"/>
              <a:t>Continuous monitoring of energy consumption per capita and emission trends can guide policy decisions to balance growth and sustainability.</a:t>
            </a:r>
            <a:endParaRPr lang="en-US" dirty="0"/>
          </a:p>
          <a:p>
            <a:pPr marL="114300" indent="0">
              <a:buNone/>
            </a:pPr>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b="1" dirty="0">
                <a:solidFill>
                  <a:srgbClr val="FF0000"/>
                </a:solidFill>
              </a:rPr>
              <a:t>Conclusion</a:t>
            </a:r>
            <a:endParaRPr lang="en-IN" sz="3600" dirty="0">
              <a:solidFill>
                <a:srgbClr val="FF0000"/>
              </a:solidFill>
            </a:endParaRPr>
          </a:p>
        </p:txBody>
      </p:sp>
      <p:sp>
        <p:nvSpPr>
          <p:cNvPr id="3" name="Text Placeholder 2"/>
          <p:cNvSpPr>
            <a:spLocks noGrp="1"/>
          </p:cNvSpPr>
          <p:nvPr>
            <p:ph type="body" idx="1"/>
          </p:nvPr>
        </p:nvSpPr>
        <p:spPr>
          <a:xfrm>
            <a:off x="838200" y="1690688"/>
            <a:ext cx="10515600" cy="4351338"/>
          </a:xfrm>
        </p:spPr>
        <p:txBody>
          <a:bodyPr>
            <a:normAutofit lnSpcReduction="10000"/>
          </a:bodyPr>
          <a:lstStyle/>
          <a:p>
            <a:r>
              <a:rPr lang="en-US" dirty="0"/>
              <a:t>This project helped analyze how different countries use energy and produce emissions.</a:t>
            </a:r>
            <a:endParaRPr lang="en-US" dirty="0"/>
          </a:p>
          <a:p>
            <a:r>
              <a:rPr lang="en-US" dirty="0"/>
              <a:t>It showed that countries usually use more energy as their economy grows.</a:t>
            </a:r>
            <a:endParaRPr lang="en-US" dirty="0"/>
          </a:p>
          <a:p>
            <a:r>
              <a:rPr lang="en-US" dirty="0"/>
              <a:t>The results highlight the need to use energy more efficiently and adopt cleaner sources.</a:t>
            </a:r>
            <a:endParaRPr lang="en-US" dirty="0"/>
          </a:p>
          <a:p>
            <a:r>
              <a:rPr lang="en-US" dirty="0"/>
              <a:t>Data analysis supports making better decisions to protect the environment while supporting growth.</a:t>
            </a:r>
            <a:endParaRPr lang="en-US" dirty="0"/>
          </a:p>
          <a:p>
            <a:r>
              <a:rPr lang="en-US" dirty="0"/>
              <a:t>Overall, this study shows how data can help plan for a sustainable and energy-efficient future.</a:t>
            </a:r>
            <a:endParaRPr lang="en-US" dirty="0"/>
          </a:p>
          <a:p>
            <a:pPr marL="114300" indent="0">
              <a:buNone/>
            </a:pPr>
            <a:endParaRPr lang="en-IN"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61257"/>
          </a:xfrm>
        </p:spPr>
        <p:txBody>
          <a:bodyPr>
            <a:normAutofit/>
          </a:bodyPr>
          <a:lstStyle/>
          <a:p>
            <a:r>
              <a:rPr lang="en-IN" sz="4000" b="1" dirty="0">
                <a:solidFill>
                  <a:srgbClr val="FF0000"/>
                </a:solidFill>
              </a:rPr>
              <a:t>Your Experience/Challenges working on SQL</a:t>
            </a:r>
            <a:endParaRPr lang="en-IN" sz="4000" dirty="0">
              <a:solidFill>
                <a:srgbClr val="FF0000"/>
              </a:solidFill>
            </a:endParaRPr>
          </a:p>
        </p:txBody>
      </p:sp>
      <p:sp>
        <p:nvSpPr>
          <p:cNvPr id="3" name="Text Placeholder 2"/>
          <p:cNvSpPr>
            <a:spLocks noGrp="1"/>
          </p:cNvSpPr>
          <p:nvPr>
            <p:ph type="body" idx="1"/>
          </p:nvPr>
        </p:nvSpPr>
        <p:spPr>
          <a:xfrm>
            <a:off x="838200" y="1406769"/>
            <a:ext cx="10515600" cy="4770194"/>
          </a:xfrm>
        </p:spPr>
        <p:txBody>
          <a:bodyPr>
            <a:normAutofit/>
          </a:bodyPr>
          <a:lstStyle/>
          <a:p>
            <a:pPr marL="114300" indent="0">
              <a:buNone/>
            </a:pPr>
            <a:r>
              <a:rPr lang="en-US" b="1" u="sng" dirty="0"/>
              <a:t>Experience</a:t>
            </a:r>
            <a:endParaRPr lang="en-US" dirty="0"/>
          </a:p>
          <a:p>
            <a:r>
              <a:rPr lang="en-US" sz="2000" dirty="0"/>
              <a:t>Gained practical skills in writing complex SQL queries to analyze large datasets.</a:t>
            </a:r>
            <a:endParaRPr lang="en-US" sz="2000" dirty="0"/>
          </a:p>
          <a:p>
            <a:r>
              <a:rPr lang="en-US" sz="2000" dirty="0"/>
              <a:t>Learned how to work with multiple related tables and perform joins for meaningful insights.</a:t>
            </a:r>
            <a:endParaRPr lang="en-US" sz="2000" dirty="0"/>
          </a:p>
          <a:p>
            <a:r>
              <a:rPr lang="en-US" sz="2000" dirty="0"/>
              <a:t>Understood real-world relationships between energy consumption, emissions, GDP, and population.</a:t>
            </a:r>
            <a:endParaRPr lang="en-US" sz="2000" dirty="0"/>
          </a:p>
          <a:p>
            <a:pPr marL="114300" indent="0">
              <a:buNone/>
            </a:pPr>
            <a:endParaRPr lang="en-US" sz="2000" dirty="0"/>
          </a:p>
          <a:p>
            <a:pPr marL="114300" indent="0">
              <a:buNone/>
            </a:pPr>
            <a:r>
              <a:rPr lang="en-IN" b="1" u="sng" dirty="0"/>
              <a:t>Challenges</a:t>
            </a:r>
            <a:endParaRPr lang="en-IN" b="1" u="sng" dirty="0"/>
          </a:p>
          <a:p>
            <a:r>
              <a:rPr lang="en-US" sz="2000" dirty="0"/>
              <a:t>Managing and integrating multiple tables with different attributes required careful schema design.</a:t>
            </a:r>
            <a:endParaRPr lang="en-US" sz="2000" dirty="0"/>
          </a:p>
          <a:p>
            <a:r>
              <a:rPr lang="en-US" sz="2000" dirty="0"/>
              <a:t>Ensuring data consistency and avoiding errors during SQL querying was sometimes difficult.</a:t>
            </a:r>
            <a:endParaRPr lang="en-US" sz="2000" dirty="0"/>
          </a:p>
          <a:p>
            <a:r>
              <a:rPr lang="en-US" sz="2000" dirty="0"/>
              <a:t>Interpreting results to draw clear business insights from raw data demanded critical thinking and domain understanding.</a:t>
            </a:r>
            <a:endParaRPr lang="en-US" sz="2000" dirty="0"/>
          </a:p>
          <a:p>
            <a:pPr marL="114300" indent="0">
              <a:buNone/>
            </a:pPr>
            <a:endParaRPr lang="en-IN" u="sng"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1"/>
          <a:srcRect/>
          <a:stretch>
            <a:fill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panose="02000000000000000000"/>
              <a:buNone/>
            </a:pPr>
            <a:r>
              <a:rPr lang="en-IN" sz="4800" b="0" i="0" u="none" strike="noStrike" cap="none" dirty="0">
                <a:solidFill>
                  <a:srgbClr val="C00000"/>
                </a:solidFill>
                <a:latin typeface="Libre Baskerville" panose="02000000000000000000"/>
                <a:ea typeface="Libre Baskerville" panose="02000000000000000000"/>
                <a:cs typeface="Libre Baskerville" panose="02000000000000000000"/>
                <a:sym typeface="Libre Baskerville" panose="02000000000000000000"/>
              </a:rPr>
              <a:t>THANK YOU</a:t>
            </a:r>
            <a:endParaRPr sz="4800" b="0"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6615</Words>
  <Application>WPS Presentation</Application>
  <PresentationFormat>Widescreen</PresentationFormat>
  <Paragraphs>218</Paragraphs>
  <Slides>26</Slides>
  <Notes>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26</vt:i4>
      </vt:variant>
    </vt:vector>
  </HeadingPairs>
  <TitlesOfParts>
    <vt:vector size="37" baseType="lpstr">
      <vt:lpstr>Arial</vt:lpstr>
      <vt:lpstr>SimSun</vt:lpstr>
      <vt:lpstr>Wingdings</vt:lpstr>
      <vt:lpstr>Arial</vt:lpstr>
      <vt:lpstr>Calibri</vt:lpstr>
      <vt:lpstr>Lato Black</vt:lpstr>
      <vt:lpstr>Microsoft YaHei</vt:lpstr>
      <vt:lpstr>Arial Unicode MS</vt:lpstr>
      <vt:lpstr>Libre Baskerville</vt:lpstr>
      <vt:lpstr>Times New Roman</vt:lpstr>
      <vt:lpstr>Office Theme</vt:lpstr>
      <vt:lpstr>PowerPoint 演示文稿</vt:lpstr>
      <vt:lpstr>Agenda  </vt:lpstr>
      <vt:lpstr>Objective of the Project </vt:lpstr>
      <vt:lpstr>ER Diagram and schema explanation </vt:lpstr>
      <vt:lpstr>Key analysis questions</vt:lpstr>
      <vt:lpstr>SQL query results with screenshots or summaries </vt:lpstr>
      <vt:lpstr>SQL query results with screenshots or summaries</vt:lpstr>
      <vt:lpstr>SQL query results with screenshots or summaries</vt:lpstr>
      <vt:lpstr>SQL query results with screenshots or summaries</vt:lpstr>
      <vt:lpstr>SQL query results with screenshots or summaries</vt:lpstr>
      <vt:lpstr>SQL query results with screenshots or summaries</vt:lpstr>
      <vt:lpstr>SQL query results with screenshots or summaries</vt:lpstr>
      <vt:lpstr>SQL query results with screenshots or summaries</vt:lpstr>
      <vt:lpstr>SQL query results with screenshots or summaries</vt:lpstr>
      <vt:lpstr>SQL query results with screenshots or summaries</vt:lpstr>
      <vt:lpstr>SQL query results with screenshots or summaries</vt:lpstr>
      <vt:lpstr>SQL query results with screenshots or summaries</vt:lpstr>
      <vt:lpstr>SQL query results with screenshots or summaries</vt:lpstr>
      <vt:lpstr>SQL query results with screenshots or summaries</vt:lpstr>
      <vt:lpstr>SQL query results with screenshots or summaries</vt:lpstr>
      <vt:lpstr>SQL query results with screenshots or summaries</vt:lpstr>
      <vt:lpstr>SQL query results with screenshots or summaries</vt:lpstr>
      <vt:lpstr>Final business insights and recommendations </vt:lpstr>
      <vt:lpstr>Conclusion</vt:lpstr>
      <vt:lpstr>Your Experience/Challenges working on SQL</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Raghu Ram Aduri</dc:creator>
  <cp:lastModifiedBy>Anji Nani</cp:lastModifiedBy>
  <cp:revision>8</cp:revision>
  <dcterms:created xsi:type="dcterms:W3CDTF">2021-02-16T05:19:00Z</dcterms:created>
  <dcterms:modified xsi:type="dcterms:W3CDTF">2025-10-17T09:13:58Z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46E3794C718F40A3A1F9455C99D75563_12</vt:lpwstr>
  </property>
  <property fmtid="{D5CDD505-2E9C-101B-9397-08002B2CF9AE}" pid="3" name="KSOProductBuildVer">
    <vt:lpwstr>2057-12.2.0.22556</vt:lpwstr>
  </property>
</Properties>
</file>